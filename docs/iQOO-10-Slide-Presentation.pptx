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ricolage Grotesque Bold" charset="1" panose="020B0605040402000204"/>
      <p:regular r:id="rId16"/>
    </p:embeddedFont>
    <p:embeddedFont>
      <p:font typeface="Bricolage Grotesque Medium" charset="1" panose="020B0605040402000204"/>
      <p:regular r:id="rId17"/>
    </p:embeddedFont>
    <p:embeddedFont>
      <p:font typeface="Bricolage Grotesque" charset="1" panose="020B0605040402000204"/>
      <p:regular r:id="rId18"/>
    </p:embeddedFont>
    <p:embeddedFont>
      <p:font typeface="Bricolage Grotesque Semi-Bold" charset="1" panose="020B060504040200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14" Target="../media/image28.png" Type="http://schemas.openxmlformats.org/officeDocument/2006/relationships/image"/><Relationship Id="rId15" Target="../media/image29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png" Type="http://schemas.openxmlformats.org/officeDocument/2006/relationships/image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png" Type="http://schemas.openxmlformats.org/officeDocument/2006/relationships/image"/><Relationship Id="rId12" Target="../media/image51.png" Type="http://schemas.openxmlformats.org/officeDocument/2006/relationships/image"/><Relationship Id="rId13" Target="../media/image52.png" Type="http://schemas.openxmlformats.org/officeDocument/2006/relationships/image"/><Relationship Id="rId14" Target="../media/image53.png" Type="http://schemas.openxmlformats.org/officeDocument/2006/relationships/image"/><Relationship Id="rId15" Target="../media/image54.png" Type="http://schemas.openxmlformats.org/officeDocument/2006/relationships/image"/><Relationship Id="rId16" Target="../media/image55.png" Type="http://schemas.openxmlformats.org/officeDocument/2006/relationships/image"/><Relationship Id="rId17" Target="../media/image56.png" Type="http://schemas.openxmlformats.org/officeDocument/2006/relationships/image"/><Relationship Id="rId18" Target="../media/image57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12" Target="../media/image68.png" Type="http://schemas.openxmlformats.org/officeDocument/2006/relationships/image"/><Relationship Id="rId13" Target="../media/image69.png" Type="http://schemas.openxmlformats.org/officeDocument/2006/relationships/image"/><Relationship Id="rId14" Target="../media/image70.png" Type="http://schemas.openxmlformats.org/officeDocument/2006/relationships/image"/><Relationship Id="rId15" Target="../media/image71.png" Type="http://schemas.openxmlformats.org/officeDocument/2006/relationships/image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png" Type="http://schemas.openxmlformats.org/officeDocument/2006/relationships/image"/><Relationship Id="rId3" Target="../media/image73.png" Type="http://schemas.openxmlformats.org/officeDocument/2006/relationships/image"/><Relationship Id="rId4" Target="../media/image74.png" Type="http://schemas.openxmlformats.org/officeDocument/2006/relationships/image"/><Relationship Id="rId5" Target="../media/image7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png" Type="http://schemas.openxmlformats.org/officeDocument/2006/relationships/image"/><Relationship Id="rId12" Target="../media/image86.png" Type="http://schemas.openxmlformats.org/officeDocument/2006/relationships/image"/><Relationship Id="rId13" Target="../media/image87.png" Type="http://schemas.openxmlformats.org/officeDocument/2006/relationships/image"/><Relationship Id="rId14" Target="../media/image88.png" Type="http://schemas.openxmlformats.org/officeDocument/2006/relationships/image"/><Relationship Id="rId15" Target="../media/image89.png" Type="http://schemas.openxmlformats.org/officeDocument/2006/relationships/image"/><Relationship Id="rId16" Target="../media/image90.png" Type="http://schemas.openxmlformats.org/officeDocument/2006/relationships/image"/><Relationship Id="rId17" Target="../media/image91.png" Type="http://schemas.openxmlformats.org/officeDocument/2006/relationships/image"/><Relationship Id="rId18" Target="../media/image92.png" Type="http://schemas.openxmlformats.org/officeDocument/2006/relationships/image"/><Relationship Id="rId19" Target="../media/image93.png" Type="http://schemas.openxmlformats.org/officeDocument/2006/relationships/image"/><Relationship Id="rId2" Target="../media/image76.png" Type="http://schemas.openxmlformats.org/officeDocument/2006/relationships/image"/><Relationship Id="rId20" Target="../media/image94.png" Type="http://schemas.openxmlformats.org/officeDocument/2006/relationships/image"/><Relationship Id="rId21" Target="../media/image95.png" Type="http://schemas.openxmlformats.org/officeDocument/2006/relationships/image"/><Relationship Id="rId22" Target="../media/image96.png" Type="http://schemas.openxmlformats.org/officeDocument/2006/relationships/image"/><Relationship Id="rId3" Target="../media/image77.png" Type="http://schemas.openxmlformats.org/officeDocument/2006/relationships/image"/><Relationship Id="rId4" Target="../media/image78.png" Type="http://schemas.openxmlformats.org/officeDocument/2006/relationships/image"/><Relationship Id="rId5" Target="../media/image79.png" Type="http://schemas.openxmlformats.org/officeDocument/2006/relationships/image"/><Relationship Id="rId6" Target="../media/image80.png" Type="http://schemas.openxmlformats.org/officeDocument/2006/relationships/image"/><Relationship Id="rId7" Target="../media/image81.png" Type="http://schemas.openxmlformats.org/officeDocument/2006/relationships/image"/><Relationship Id="rId8" Target="../media/image82.pn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5.png" Type="http://schemas.openxmlformats.org/officeDocument/2006/relationships/image"/><Relationship Id="rId11" Target="../media/image106.png" Type="http://schemas.openxmlformats.org/officeDocument/2006/relationships/image"/><Relationship Id="rId12" Target="../media/image107.png" Type="http://schemas.openxmlformats.org/officeDocument/2006/relationships/image"/><Relationship Id="rId13" Target="../media/image108.png" Type="http://schemas.openxmlformats.org/officeDocument/2006/relationships/image"/><Relationship Id="rId14" Target="../media/image109.png" Type="http://schemas.openxmlformats.org/officeDocument/2006/relationships/image"/><Relationship Id="rId15" Target="../media/image110.png" Type="http://schemas.openxmlformats.org/officeDocument/2006/relationships/image"/><Relationship Id="rId16" Target="../media/image111.png" Type="http://schemas.openxmlformats.org/officeDocument/2006/relationships/image"/><Relationship Id="rId17" Target="../media/image112.png" Type="http://schemas.openxmlformats.org/officeDocument/2006/relationships/image"/><Relationship Id="rId18" Target="../media/image113.png" Type="http://schemas.openxmlformats.org/officeDocument/2006/relationships/image"/><Relationship Id="rId19" Target="../media/image114.png" Type="http://schemas.openxmlformats.org/officeDocument/2006/relationships/image"/><Relationship Id="rId2" Target="../media/image97.png" Type="http://schemas.openxmlformats.org/officeDocument/2006/relationships/image"/><Relationship Id="rId20" Target="../media/image115.png" Type="http://schemas.openxmlformats.org/officeDocument/2006/relationships/image"/><Relationship Id="rId21" Target="../media/image116.png" Type="http://schemas.openxmlformats.org/officeDocument/2006/relationships/image"/><Relationship Id="rId22" Target="../media/image117.png" Type="http://schemas.openxmlformats.org/officeDocument/2006/relationships/image"/><Relationship Id="rId23" Target="../media/image118.png" Type="http://schemas.openxmlformats.org/officeDocument/2006/relationships/image"/><Relationship Id="rId24" Target="../media/image119.png" Type="http://schemas.openxmlformats.org/officeDocument/2006/relationships/image"/><Relationship Id="rId25" Target="../media/image120.png" Type="http://schemas.openxmlformats.org/officeDocument/2006/relationships/image"/><Relationship Id="rId26" Target="../media/image121.png" Type="http://schemas.openxmlformats.org/officeDocument/2006/relationships/image"/><Relationship Id="rId27" Target="../media/image122.png" Type="http://schemas.openxmlformats.org/officeDocument/2006/relationships/image"/><Relationship Id="rId28" Target="../media/image123.png" Type="http://schemas.openxmlformats.org/officeDocument/2006/relationships/image"/><Relationship Id="rId29" Target="../media/image124.png" Type="http://schemas.openxmlformats.org/officeDocument/2006/relationships/image"/><Relationship Id="rId3" Target="../media/image98.png" Type="http://schemas.openxmlformats.org/officeDocument/2006/relationships/image"/><Relationship Id="rId4" Target="../media/image99.png" Type="http://schemas.openxmlformats.org/officeDocument/2006/relationships/image"/><Relationship Id="rId5" Target="../media/image100.png" Type="http://schemas.openxmlformats.org/officeDocument/2006/relationships/image"/><Relationship Id="rId6" Target="../media/image101.png" Type="http://schemas.openxmlformats.org/officeDocument/2006/relationships/image"/><Relationship Id="rId7" Target="../media/image102.png" Type="http://schemas.openxmlformats.org/officeDocument/2006/relationships/image"/><Relationship Id="rId8" Target="../media/image103.png" Type="http://schemas.openxmlformats.org/officeDocument/2006/relationships/image"/><Relationship Id="rId9" Target="../media/image10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3.png" Type="http://schemas.openxmlformats.org/officeDocument/2006/relationships/image"/><Relationship Id="rId11" Target="../media/image134.png" Type="http://schemas.openxmlformats.org/officeDocument/2006/relationships/image"/><Relationship Id="rId2" Target="../media/image125.png" Type="http://schemas.openxmlformats.org/officeDocument/2006/relationships/image"/><Relationship Id="rId3" Target="../media/image126.png" Type="http://schemas.openxmlformats.org/officeDocument/2006/relationships/image"/><Relationship Id="rId4" Target="../media/image127.png" Type="http://schemas.openxmlformats.org/officeDocument/2006/relationships/image"/><Relationship Id="rId5" Target="../media/image128.png" Type="http://schemas.openxmlformats.org/officeDocument/2006/relationships/image"/><Relationship Id="rId6" Target="../media/image129.png" Type="http://schemas.openxmlformats.org/officeDocument/2006/relationships/image"/><Relationship Id="rId7" Target="../media/image130.png" Type="http://schemas.openxmlformats.org/officeDocument/2006/relationships/image"/><Relationship Id="rId8" Target="../media/image131.png" Type="http://schemas.openxmlformats.org/officeDocument/2006/relationships/image"/><Relationship Id="rId9" Target="../media/image1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3550" y="1066800"/>
            <a:ext cx="6762750" cy="9220200"/>
          </a:xfrm>
          <a:custGeom>
            <a:avLst/>
            <a:gdLst/>
            <a:ahLst/>
            <a:cxnLst/>
            <a:rect r="r" b="b" t="t" l="l"/>
            <a:pathLst>
              <a:path h="9220200" w="6762750">
                <a:moveTo>
                  <a:pt x="0" y="0"/>
                </a:moveTo>
                <a:lnTo>
                  <a:pt x="6762750" y="0"/>
                </a:lnTo>
                <a:lnTo>
                  <a:pt x="6762750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58775" y="3209925"/>
            <a:ext cx="1752600" cy="1504950"/>
          </a:xfrm>
          <a:custGeom>
            <a:avLst/>
            <a:gdLst/>
            <a:ahLst/>
            <a:cxnLst/>
            <a:rect r="r" b="b" t="t" l="l"/>
            <a:pathLst>
              <a:path h="1504950" w="175260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20625" y="4924425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6858000"/>
            <a:ext cx="1524000" cy="1285875"/>
          </a:xfrm>
          <a:custGeom>
            <a:avLst/>
            <a:gdLst/>
            <a:ahLst/>
            <a:cxnLst/>
            <a:rect r="r" b="b" t="t" l="l"/>
            <a:pathLst>
              <a:path h="1285875" w="1524000">
                <a:moveTo>
                  <a:pt x="0" y="0"/>
                </a:moveTo>
                <a:lnTo>
                  <a:pt x="1524000" y="0"/>
                </a:lnTo>
                <a:lnTo>
                  <a:pt x="15240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3232" y="3026892"/>
            <a:ext cx="8119872" cy="147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2"/>
              </a:lnSpc>
            </a:pPr>
            <a:r>
              <a:rPr lang="en-US" sz="11022" spc="-330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SenseGuard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924925" y="3638550"/>
            <a:ext cx="1095375" cy="219075"/>
          </a:xfrm>
          <a:custGeom>
            <a:avLst/>
            <a:gdLst/>
            <a:ahLst/>
            <a:cxnLst/>
            <a:rect r="r" b="b" t="t" l="l"/>
            <a:pathLst>
              <a:path h="219075" w="10953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7700" y="6210300"/>
            <a:ext cx="1533525" cy="219075"/>
          </a:xfrm>
          <a:custGeom>
            <a:avLst/>
            <a:gdLst/>
            <a:ahLst/>
            <a:cxnLst/>
            <a:rect r="r" b="b" t="t" l="l"/>
            <a:pathLst>
              <a:path h="219075" w="1533525">
                <a:moveTo>
                  <a:pt x="0" y="0"/>
                </a:moveTo>
                <a:lnTo>
                  <a:pt x="1533525" y="0"/>
                </a:lnTo>
                <a:lnTo>
                  <a:pt x="153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3232" y="6892671"/>
            <a:ext cx="60350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5"/>
              </a:lnSpc>
            </a:pPr>
            <a:r>
              <a:rPr lang="en-US" sz="3471" spc="-104" b="true">
                <a:solidFill>
                  <a:srgbClr val="FFBD59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iQOO Hackathon 2026 Pitch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3232" y="8340471"/>
            <a:ext cx="224942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5"/>
              </a:lnSpc>
              <a:spcBef>
                <a:spcPct val="0"/>
              </a:spcBef>
            </a:pPr>
            <a:r>
              <a:rPr lang="en-US" sz="3045" spc="-91" strike="noStrike" u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Cognivista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3232" y="8967978"/>
            <a:ext cx="215798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3045" spc="-91">
                <a:solidFill>
                  <a:srgbClr val="FFBD5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2026-09-06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887700" y="1495425"/>
            <a:ext cx="1971675" cy="1504950"/>
          </a:xfrm>
          <a:custGeom>
            <a:avLst/>
            <a:gdLst/>
            <a:ahLst/>
            <a:cxnLst/>
            <a:rect r="r" b="b" t="t" l="l"/>
            <a:pathLst>
              <a:path h="1504950" w="1971675">
                <a:moveTo>
                  <a:pt x="0" y="0"/>
                </a:moveTo>
                <a:lnTo>
                  <a:pt x="1971675" y="0"/>
                </a:lnTo>
                <a:lnTo>
                  <a:pt x="197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276320" y="2183062"/>
            <a:ext cx="1261872" cy="50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sz="1840" spc="-5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Visual Recognition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668625" y="3857625"/>
            <a:ext cx="1971675" cy="1504950"/>
          </a:xfrm>
          <a:custGeom>
            <a:avLst/>
            <a:gdLst/>
            <a:ahLst/>
            <a:cxnLst/>
            <a:rect r="r" b="b" t="t" l="l"/>
            <a:pathLst>
              <a:path h="1504950" w="1971675">
                <a:moveTo>
                  <a:pt x="0" y="0"/>
                </a:moveTo>
                <a:lnTo>
                  <a:pt x="1971675" y="0"/>
                </a:lnTo>
                <a:lnTo>
                  <a:pt x="197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928848" y="4538785"/>
            <a:ext cx="1170432" cy="50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sz="1840" spc="-5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Motion Awareness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020925" y="6000750"/>
            <a:ext cx="1962150" cy="1285875"/>
          </a:xfrm>
          <a:custGeom>
            <a:avLst/>
            <a:gdLst/>
            <a:ahLst/>
            <a:cxnLst/>
            <a:rect r="r" b="b" t="t" l="l"/>
            <a:pathLst>
              <a:path h="1285875" w="1962150">
                <a:moveTo>
                  <a:pt x="0" y="0"/>
                </a:moveTo>
                <a:lnTo>
                  <a:pt x="1962150" y="0"/>
                </a:lnTo>
                <a:lnTo>
                  <a:pt x="19621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240000" y="6210300"/>
            <a:ext cx="876300" cy="438150"/>
          </a:xfrm>
          <a:custGeom>
            <a:avLst/>
            <a:gdLst/>
            <a:ahLst/>
            <a:cxnLst/>
            <a:rect r="r" b="b" t="t" l="l"/>
            <a:pathLst>
              <a:path h="438150" w="87630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240000" y="6638925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13232" y="4535043"/>
            <a:ext cx="9253728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4"/>
              </a:lnSpc>
            </a:pPr>
            <a:r>
              <a:rPr lang="en-US" sz="4995" spc="-149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Multimodal On-Device </a:t>
            </a:r>
            <a:r>
              <a:rPr lang="en-US" sz="4995" spc="-149" b="true">
                <a:solidFill>
                  <a:srgbClr val="FFBD5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Medication Safety</a:t>
            </a:r>
            <a:r>
              <a:rPr lang="en-US" sz="4995" spc="-149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&amp; Adherence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276320" y="1821942"/>
            <a:ext cx="102412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b="true" sz="1805" spc="-54">
                <a:solidFill>
                  <a:srgbClr val="FFBD59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CAMERA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928848" y="4167378"/>
            <a:ext cx="47548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b="true" sz="1805" spc="-54">
                <a:solidFill>
                  <a:srgbClr val="FFBD59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IMU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4375" y="6276975"/>
            <a:ext cx="5905500" cy="20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299" b="true">
                <a:solidFill>
                  <a:srgbClr val="FFBD5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Camera • IMU • GNSS • On-device 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20000" y="0"/>
            <a:ext cx="10668000" cy="10287000"/>
          </a:xfrm>
          <a:custGeom>
            <a:avLst/>
            <a:gdLst/>
            <a:ahLst/>
            <a:cxnLst/>
            <a:rect r="r" b="b" t="t" l="l"/>
            <a:pathLst>
              <a:path h="10287000" w="10668000">
                <a:moveTo>
                  <a:pt x="0" y="0"/>
                </a:moveTo>
                <a:lnTo>
                  <a:pt x="10668000" y="0"/>
                </a:lnTo>
                <a:lnTo>
                  <a:pt x="1066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20000" y="0"/>
            <a:ext cx="3486150" cy="10287000"/>
          </a:xfrm>
          <a:custGeom>
            <a:avLst/>
            <a:gdLst/>
            <a:ahLst/>
            <a:cxnLst/>
            <a:rect r="r" b="b" t="t" l="l"/>
            <a:pathLst>
              <a:path h="10287000" w="3486150">
                <a:moveTo>
                  <a:pt x="0" y="0"/>
                </a:moveTo>
                <a:lnTo>
                  <a:pt x="3486150" y="0"/>
                </a:lnTo>
                <a:lnTo>
                  <a:pt x="3486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0352" y="1474848"/>
            <a:ext cx="7424928" cy="1091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5"/>
              </a:lnSpc>
            </a:pPr>
            <a:r>
              <a:rPr lang="en-US" sz="8115" spc="-162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The Medication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0352" y="2561530"/>
            <a:ext cx="8540496" cy="112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9"/>
              </a:lnSpc>
            </a:pPr>
            <a:r>
              <a:rPr lang="en-US" sz="8469" spc="-169" b="true">
                <a:solidFill>
                  <a:srgbClr val="FFAB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Safety Challenge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1520" y="3999929"/>
            <a:ext cx="5760720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3"/>
              </a:lnSpc>
            </a:pPr>
            <a:r>
              <a:rPr lang="en-US" sz="3577" spc="-71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“Information is fragmented across physical and behavioral contexts”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1520" y="6171628"/>
            <a:ext cx="647395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spc="-4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Medication details live in disconnected places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520" y="6764274"/>
            <a:ext cx="501091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514" spc="-5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Patients face everyday uncertainty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1520" y="7375207"/>
            <a:ext cx="490118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spc="-4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Most apps miss the physical world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1520" y="7967853"/>
            <a:ext cx="625449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spc="-5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Context is multimodal, not one-dimensional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3425" y="8763000"/>
            <a:ext cx="88582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FFBD5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CORE CHALLENGE  |  Fragmented context across package identity, prescription schedule, clinician speech, time, and location — not merely reminders.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72625" y="857250"/>
            <a:ext cx="8715375" cy="9429750"/>
          </a:xfrm>
          <a:custGeom>
            <a:avLst/>
            <a:gdLst/>
            <a:ahLst/>
            <a:cxnLst/>
            <a:rect r="r" b="b" t="t" l="l"/>
            <a:pathLst>
              <a:path h="9429750" w="8715375">
                <a:moveTo>
                  <a:pt x="0" y="0"/>
                </a:moveTo>
                <a:lnTo>
                  <a:pt x="8715375" y="0"/>
                </a:lnTo>
                <a:lnTo>
                  <a:pt x="8715375" y="9429750"/>
                </a:lnTo>
                <a:lnTo>
                  <a:pt x="0" y="9429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0080" y="3739134"/>
            <a:ext cx="7168896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975" spc="-89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We focus on the medicine you’re holding, not the clutter around it.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0080" y="5014722"/>
            <a:ext cx="537667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975" spc="-89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A simple, controlled interaction powers accurate identification.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0080" y="6638163"/>
            <a:ext cx="102412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b="true" sz="2124" spc="-63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PICK 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080" y="7048119"/>
            <a:ext cx="10241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spc="-5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medicine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733550" y="663892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04288" y="6638163"/>
            <a:ext cx="80467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b="true" sz="2124" spc="-63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SHOW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04288" y="7048119"/>
            <a:ext cx="768096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spc="-5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phone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048000" y="663892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49040" y="6638163"/>
            <a:ext cx="120700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b="true" sz="2124" spc="-63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CAPTURE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49040" y="7048119"/>
            <a:ext cx="106070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spc="-5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stabilizes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000625" y="663892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577840" y="6638163"/>
            <a:ext cx="113385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b="true" sz="2124" spc="-63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IDENTIFY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77840" y="7048119"/>
            <a:ext cx="14813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spc="-5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medicine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962775" y="663892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662672" y="6638163"/>
            <a:ext cx="87782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b="true" sz="2124" spc="-63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VERIFY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705850" y="6638925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290304" y="6638163"/>
            <a:ext cx="51206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b="true" sz="2124" spc="-63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LOG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90304" y="7048119"/>
            <a:ext cx="950976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spc="-5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securely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496925" y="257175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449550" y="257175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496925" y="2781300"/>
            <a:ext cx="2181225" cy="3438525"/>
          </a:xfrm>
          <a:custGeom>
            <a:avLst/>
            <a:gdLst/>
            <a:ahLst/>
            <a:cxnLst/>
            <a:rect r="r" b="b" t="t" l="l"/>
            <a:pathLst>
              <a:path h="3438525" w="2181225">
                <a:moveTo>
                  <a:pt x="0" y="0"/>
                </a:moveTo>
                <a:lnTo>
                  <a:pt x="2181225" y="0"/>
                </a:lnTo>
                <a:lnTo>
                  <a:pt x="218122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496925" y="5781675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449550" y="557212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058775" y="6000750"/>
            <a:ext cx="3495675" cy="1504950"/>
          </a:xfrm>
          <a:custGeom>
            <a:avLst/>
            <a:gdLst/>
            <a:ahLst/>
            <a:cxnLst/>
            <a:rect r="r" b="b" t="t" l="l"/>
            <a:pathLst>
              <a:path h="1504950" w="3495675">
                <a:moveTo>
                  <a:pt x="0" y="0"/>
                </a:moveTo>
                <a:lnTo>
                  <a:pt x="3495675" y="0"/>
                </a:lnTo>
                <a:lnTo>
                  <a:pt x="3495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-161999">
            <a:off x="13313198" y="6445572"/>
            <a:ext cx="9326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698" spc="-50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 Detected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277850" y="6638925"/>
            <a:ext cx="3057525" cy="647700"/>
          </a:xfrm>
          <a:custGeom>
            <a:avLst/>
            <a:gdLst/>
            <a:ahLst/>
            <a:cxnLst/>
            <a:rect r="r" b="b" t="t" l="l"/>
            <a:pathLst>
              <a:path h="647700" w="3057525">
                <a:moveTo>
                  <a:pt x="0" y="0"/>
                </a:moveTo>
                <a:lnTo>
                  <a:pt x="3057525" y="0"/>
                </a:lnTo>
                <a:lnTo>
                  <a:pt x="3057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603504" y="1444083"/>
            <a:ext cx="9290304" cy="2064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8"/>
              </a:lnSpc>
            </a:pPr>
            <a:r>
              <a:rPr lang="en-US" sz="7335" spc="-293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Core Insight — </a:t>
            </a:r>
          </a:p>
          <a:p>
            <a:pPr algn="l">
              <a:lnSpc>
                <a:spcPts val="8068"/>
              </a:lnSpc>
            </a:pPr>
            <a:r>
              <a:rPr lang="en-US" sz="7335" spc="-293" b="true">
                <a:solidFill>
                  <a:srgbClr val="F99B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One Medicine in Hand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62672" y="7048119"/>
            <a:ext cx="87782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spc="-5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&amp; guide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38175" y="8191500"/>
            <a:ext cx="90487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67E8F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IMPLEMENTATION NOTE  |  Single-item capture reduces cluttered multi-object detection and enables controlled frame selection.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4944" y="629287"/>
            <a:ext cx="11996928" cy="1023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9"/>
              </a:lnSpc>
            </a:pPr>
            <a:r>
              <a:rPr lang="en-US" sz="7689" spc="-307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SenseGuard Product Vision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4944" y="1587016"/>
            <a:ext cx="6986016" cy="1001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7548" spc="-301" b="true">
                <a:solidFill>
                  <a:srgbClr val="FFBD5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&amp; Sensor Fusion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4944" y="2782824"/>
            <a:ext cx="1047902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620" spc="-52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A closed-loop, multimodal intelligence stack for safer medication use.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3429000"/>
            <a:ext cx="3714750" cy="4714875"/>
          </a:xfrm>
          <a:custGeom>
            <a:avLst/>
            <a:gdLst/>
            <a:ahLst/>
            <a:cxnLst/>
            <a:rect r="r" b="b" t="t" l="l"/>
            <a:pathLst>
              <a:path h="4714875" w="3714750">
                <a:moveTo>
                  <a:pt x="0" y="0"/>
                </a:moveTo>
                <a:lnTo>
                  <a:pt x="3714750" y="0"/>
                </a:lnTo>
                <a:lnTo>
                  <a:pt x="371475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52144" y="3958439"/>
            <a:ext cx="1225296" cy="422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6"/>
              </a:lnSpc>
            </a:pPr>
            <a:r>
              <a:rPr lang="en-US" b="true" sz="3116" spc="-124">
                <a:solidFill>
                  <a:srgbClr val="FFBD5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SENSE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2144" y="4535207"/>
            <a:ext cx="1847088" cy="330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3"/>
              </a:lnSpc>
            </a:pPr>
            <a:r>
              <a:rPr lang="en-US" sz="2124" spc="-42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camera</a:t>
            </a:r>
          </a:p>
          <a:p>
            <a:pPr algn="l">
              <a:lnSpc>
                <a:spcPts val="3823"/>
              </a:lnSpc>
            </a:pPr>
            <a:r>
              <a:rPr lang="en-US" sz="2124" spc="-42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microphone</a:t>
            </a:r>
          </a:p>
          <a:p>
            <a:pPr algn="l">
              <a:lnSpc>
                <a:spcPts val="3823"/>
              </a:lnSpc>
            </a:pPr>
            <a:r>
              <a:rPr lang="en-US" sz="2124" spc="-42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GNSS</a:t>
            </a:r>
          </a:p>
          <a:p>
            <a:pPr algn="l">
              <a:lnSpc>
                <a:spcPts val="3823"/>
              </a:lnSpc>
            </a:pPr>
            <a:r>
              <a:rPr lang="en-US" sz="2124" spc="-42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IMU</a:t>
            </a:r>
          </a:p>
          <a:p>
            <a:pPr algn="l">
              <a:lnSpc>
                <a:spcPts val="3823"/>
              </a:lnSpc>
            </a:pPr>
            <a:r>
              <a:rPr lang="en-US" sz="2124" spc="-42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magnetometer</a:t>
            </a:r>
          </a:p>
          <a:p>
            <a:pPr algn="l">
              <a:lnSpc>
                <a:spcPts val="3823"/>
              </a:lnSpc>
            </a:pPr>
            <a:r>
              <a:rPr lang="en-US" sz="2124" spc="-42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barometer</a:t>
            </a:r>
          </a:p>
          <a:p>
            <a:pPr algn="l">
              <a:lnSpc>
                <a:spcPts val="3823"/>
              </a:lnSpc>
            </a:pPr>
            <a:r>
              <a:rPr lang="en-US" sz="2124" spc="-42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C/N,0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133850" y="535305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781550" y="3429000"/>
            <a:ext cx="3933825" cy="4714875"/>
          </a:xfrm>
          <a:custGeom>
            <a:avLst/>
            <a:gdLst/>
            <a:ahLst/>
            <a:cxnLst/>
            <a:rect r="r" b="b" t="t" l="l"/>
            <a:pathLst>
              <a:path h="4714875" w="3933825">
                <a:moveTo>
                  <a:pt x="0" y="0"/>
                </a:moveTo>
                <a:lnTo>
                  <a:pt x="3933825" y="0"/>
                </a:lnTo>
                <a:lnTo>
                  <a:pt x="3933825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175504" y="3941450"/>
            <a:ext cx="3182112" cy="45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9"/>
              </a:lnSpc>
            </a:pPr>
            <a:r>
              <a:rPr lang="en-US" b="true" sz="3329" spc="-133">
                <a:solidFill>
                  <a:srgbClr val="FFBD5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CONTEXTUALIZE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58384" y="4570467"/>
            <a:ext cx="2395728" cy="287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159" spc="-43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sensor fusion estimates</a:t>
            </a:r>
          </a:p>
          <a:p>
            <a:pPr algn="l">
              <a:lnSpc>
                <a:spcPts val="3887"/>
              </a:lnSpc>
            </a:pPr>
            <a:r>
              <a:rPr lang="en-US" sz="2159" spc="-43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interaction state</a:t>
            </a:r>
          </a:p>
          <a:p>
            <a:pPr algn="l">
              <a:lnSpc>
                <a:spcPts val="3887"/>
              </a:lnSpc>
            </a:pPr>
            <a:r>
              <a:rPr lang="en-US" sz="2159" spc="-43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location confidence</a:t>
            </a:r>
          </a:p>
          <a:p>
            <a:pPr algn="l">
              <a:lnSpc>
                <a:spcPts val="3887"/>
              </a:lnSpc>
            </a:pPr>
            <a:r>
              <a:rPr lang="en-US" sz="2159" spc="-43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device stability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486775" y="535305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53550" y="3429000"/>
            <a:ext cx="3714750" cy="4714875"/>
          </a:xfrm>
          <a:custGeom>
            <a:avLst/>
            <a:gdLst/>
            <a:ahLst/>
            <a:cxnLst/>
            <a:rect r="r" b="b" t="t" l="l"/>
            <a:pathLst>
              <a:path h="4714875" w="3714750">
                <a:moveTo>
                  <a:pt x="0" y="0"/>
                </a:moveTo>
                <a:lnTo>
                  <a:pt x="3714750" y="0"/>
                </a:lnTo>
                <a:lnTo>
                  <a:pt x="371475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857232" y="3952326"/>
            <a:ext cx="1335024" cy="434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b="true" sz="3223" spc="-128">
                <a:solidFill>
                  <a:srgbClr val="13101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VERIFY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57232" y="4570467"/>
            <a:ext cx="2724912" cy="287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159" spc="-43" b="true">
                <a:solidFill>
                  <a:srgbClr val="131010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OCR and packaging vision</a:t>
            </a:r>
          </a:p>
          <a:p>
            <a:pPr algn="l">
              <a:lnSpc>
                <a:spcPts val="3887"/>
              </a:lnSpc>
            </a:pPr>
            <a:r>
              <a:rPr lang="en-US" sz="2159" spc="-43" b="true">
                <a:solidFill>
                  <a:srgbClr val="131010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barcode / QR scanning</a:t>
            </a:r>
          </a:p>
          <a:p>
            <a:pPr algn="l">
              <a:lnSpc>
                <a:spcPts val="3887"/>
              </a:lnSpc>
            </a:pPr>
            <a:r>
              <a:rPr lang="en-US" sz="2159" spc="-43" b="true">
                <a:solidFill>
                  <a:srgbClr val="131010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schedule and expiry</a:t>
            </a:r>
          </a:p>
          <a:p>
            <a:pPr algn="l">
              <a:lnSpc>
                <a:spcPts val="3887"/>
              </a:lnSpc>
            </a:pPr>
            <a:r>
              <a:rPr lang="en-US" sz="2159" spc="-43" b="true">
                <a:solidFill>
                  <a:srgbClr val="131010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on-device AI fusion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925550" y="3429000"/>
            <a:ext cx="3714750" cy="4714875"/>
          </a:xfrm>
          <a:custGeom>
            <a:avLst/>
            <a:gdLst/>
            <a:ahLst/>
            <a:cxnLst/>
            <a:rect r="r" b="b" t="t" l="l"/>
            <a:pathLst>
              <a:path h="4714875" w="3714750">
                <a:moveTo>
                  <a:pt x="0" y="0"/>
                </a:moveTo>
                <a:lnTo>
                  <a:pt x="3714750" y="0"/>
                </a:lnTo>
                <a:lnTo>
                  <a:pt x="371475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612112" y="3960050"/>
            <a:ext cx="768096" cy="437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b="true" sz="3365" spc="-134">
                <a:solidFill>
                  <a:srgbClr val="FFBD5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57248" y="4700735"/>
            <a:ext cx="2084832" cy="2345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2088" spc="-41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visual feedback</a:t>
            </a:r>
          </a:p>
          <a:p>
            <a:pPr algn="l">
              <a:lnSpc>
                <a:spcPts val="3759"/>
              </a:lnSpc>
            </a:pPr>
            <a:r>
              <a:rPr lang="en-US" sz="2088" spc="-41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voice cues</a:t>
            </a:r>
          </a:p>
          <a:p>
            <a:pPr algn="l">
              <a:lnSpc>
                <a:spcPts val="3759"/>
              </a:lnSpc>
            </a:pPr>
            <a:r>
              <a:rPr lang="en-US" sz="2088" spc="-41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haptic alerts</a:t>
            </a:r>
          </a:p>
          <a:p>
            <a:pPr algn="l">
              <a:lnSpc>
                <a:spcPts val="3759"/>
              </a:lnSpc>
            </a:pPr>
            <a:r>
              <a:rPr lang="en-US" sz="2088" spc="-41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medication event</a:t>
            </a:r>
          </a:p>
          <a:p>
            <a:pPr algn="l">
              <a:lnSpc>
                <a:spcPts val="3759"/>
              </a:lnSpc>
            </a:pPr>
            <a:r>
              <a:rPr lang="en-US" sz="2088" spc="-41" b="true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logging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3058775" y="535305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52625" y="8143875"/>
            <a:ext cx="4800600" cy="857250"/>
          </a:xfrm>
          <a:custGeom>
            <a:avLst/>
            <a:gdLst/>
            <a:ahLst/>
            <a:cxnLst/>
            <a:rect r="r" b="b" t="t" l="l"/>
            <a:pathLst>
              <a:path h="857250" w="4800600">
                <a:moveTo>
                  <a:pt x="0" y="0"/>
                </a:moveTo>
                <a:lnTo>
                  <a:pt x="4800600" y="0"/>
                </a:lnTo>
                <a:lnTo>
                  <a:pt x="4800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315700" y="8143875"/>
            <a:ext cx="4581525" cy="857250"/>
          </a:xfrm>
          <a:custGeom>
            <a:avLst/>
            <a:gdLst/>
            <a:ahLst/>
            <a:cxnLst/>
            <a:rect r="r" b="b" t="t" l="l"/>
            <a:pathLst>
              <a:path h="857250" w="4581525">
                <a:moveTo>
                  <a:pt x="0" y="0"/>
                </a:moveTo>
                <a:lnTo>
                  <a:pt x="4581525" y="0"/>
                </a:lnTo>
                <a:lnTo>
                  <a:pt x="45815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524625" y="8572500"/>
            <a:ext cx="5019675" cy="647700"/>
          </a:xfrm>
          <a:custGeom>
            <a:avLst/>
            <a:gdLst/>
            <a:ahLst/>
            <a:cxnLst/>
            <a:rect r="r" b="b" t="t" l="l"/>
            <a:pathLst>
              <a:path h="647700" w="5019675">
                <a:moveTo>
                  <a:pt x="0" y="0"/>
                </a:moveTo>
                <a:lnTo>
                  <a:pt x="5019675" y="0"/>
                </a:lnTo>
                <a:lnTo>
                  <a:pt x="5019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022592" y="8736711"/>
            <a:ext cx="404164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b="true" sz="2230" spc="-44">
                <a:solidFill>
                  <a:srgbClr val="13101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continuous learning on-device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4375" y="7953375"/>
            <a:ext cx="160020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FFBD5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RAW SENSORS → SYNCHRONIZED STATE → DETERMINISTIC SAFETY RULES → ON-DEVICE AI EXPLANATION → SCREEN / VOICE / HAPTICS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19925" y="9086850"/>
            <a:ext cx="6667500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B8C2D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Exact sensor/API availability — especially GNSS C/N₀ — is validated on the loaner device.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928" y="382905"/>
            <a:ext cx="760780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0"/>
              </a:lnSpc>
            </a:pPr>
            <a:r>
              <a:rPr lang="en-US" sz="5350" spc="-160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Main User Experience 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6928" y="1130618"/>
            <a:ext cx="5102352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3"/>
              </a:lnSpc>
            </a:pPr>
            <a:r>
              <a:rPr lang="en-US" sz="5811" spc="-174" b="true">
                <a:solidFill>
                  <a:srgbClr val="F9A81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Scan to Action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2781300"/>
            <a:ext cx="2619375" cy="5153025"/>
          </a:xfrm>
          <a:custGeom>
            <a:avLst/>
            <a:gdLst/>
            <a:ahLst/>
            <a:cxnLst/>
            <a:rect r="r" b="b" t="t" l="l"/>
            <a:pathLst>
              <a:path h="5153025" w="2619375">
                <a:moveTo>
                  <a:pt x="0" y="0"/>
                </a:moveTo>
                <a:lnTo>
                  <a:pt x="2619375" y="0"/>
                </a:lnTo>
                <a:lnTo>
                  <a:pt x="2619375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8720" y="3682937"/>
            <a:ext cx="175564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b="true" sz="2088" spc="-62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Show me</a:t>
            </a:r>
          </a:p>
          <a:p>
            <a:pPr algn="ctr">
              <a:lnSpc>
                <a:spcPts val="2506"/>
              </a:lnSpc>
            </a:pPr>
            <a:r>
              <a:rPr lang="en-US" b="true" sz="2088" spc="-62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your medicine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257550" y="5143500"/>
            <a:ext cx="1104900" cy="428625"/>
          </a:xfrm>
          <a:custGeom>
            <a:avLst/>
            <a:gdLst/>
            <a:ahLst/>
            <a:cxnLst/>
            <a:rect r="r" b="b" t="t" l="l"/>
            <a:pathLst>
              <a:path h="428625" w="1104900">
                <a:moveTo>
                  <a:pt x="0" y="0"/>
                </a:moveTo>
                <a:lnTo>
                  <a:pt x="1104900" y="0"/>
                </a:lnTo>
                <a:lnTo>
                  <a:pt x="11049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22960" y="7918704"/>
            <a:ext cx="42062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3045" spc="-91" b="true">
                <a:solidFill>
                  <a:srgbClr val="F9A81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2960" y="8451913"/>
            <a:ext cx="265176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 spc="-57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Pickup detected by IMU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2960" y="8821933"/>
            <a:ext cx="1755648" cy="58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840" spc="-5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App becomes inspection-ready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133850" y="2781300"/>
            <a:ext cx="2619375" cy="5153025"/>
          </a:xfrm>
          <a:custGeom>
            <a:avLst/>
            <a:gdLst/>
            <a:ahLst/>
            <a:cxnLst/>
            <a:rect r="r" b="b" t="t" l="l"/>
            <a:pathLst>
              <a:path h="5153025" w="2619375">
                <a:moveTo>
                  <a:pt x="0" y="0"/>
                </a:moveTo>
                <a:lnTo>
                  <a:pt x="2619375" y="0"/>
                </a:lnTo>
                <a:lnTo>
                  <a:pt x="2619375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901184" y="3550158"/>
            <a:ext cx="122529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3"/>
              </a:lnSpc>
            </a:pPr>
            <a:r>
              <a:rPr lang="en-US" b="true" sz="1769" spc="-5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Hold steady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46320" y="3825812"/>
            <a:ext cx="128016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8" spc="-3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Keep the medicine</a:t>
            </a:r>
          </a:p>
          <a:p>
            <a:pPr algn="ctr">
              <a:lnSpc>
                <a:spcPts val="1485"/>
              </a:lnSpc>
            </a:pPr>
            <a:r>
              <a:rPr lang="en-US" sz="1238" spc="-3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 frame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572000" y="4495800"/>
            <a:ext cx="1962150" cy="2152650"/>
          </a:xfrm>
          <a:custGeom>
            <a:avLst/>
            <a:gdLst/>
            <a:ahLst/>
            <a:cxnLst/>
            <a:rect r="r" b="b" t="t" l="l"/>
            <a:pathLst>
              <a:path h="2152650" w="1962150">
                <a:moveTo>
                  <a:pt x="0" y="0"/>
                </a:moveTo>
                <a:lnTo>
                  <a:pt x="1962150" y="0"/>
                </a:lnTo>
                <a:lnTo>
                  <a:pt x="19621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19700" y="68580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261104" y="7918704"/>
            <a:ext cx="49377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3045" spc="-91" b="true">
                <a:solidFill>
                  <a:srgbClr val="F9A81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61104" y="8451913"/>
            <a:ext cx="22677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 spc="-57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Aim and hold steady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61104" y="8821933"/>
            <a:ext cx="2212848" cy="58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840" spc="-5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IMU ensures stability for clear capture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524625" y="5143500"/>
            <a:ext cx="1314450" cy="428625"/>
          </a:xfrm>
          <a:custGeom>
            <a:avLst/>
            <a:gdLst/>
            <a:ahLst/>
            <a:cxnLst/>
            <a:rect r="r" b="b" t="t" l="l"/>
            <a:pathLst>
              <a:path h="428625" w="1314450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620000" y="2781300"/>
            <a:ext cx="2838450" cy="5153025"/>
          </a:xfrm>
          <a:custGeom>
            <a:avLst/>
            <a:gdLst/>
            <a:ahLst/>
            <a:cxnLst/>
            <a:rect r="r" b="b" t="t" l="l"/>
            <a:pathLst>
              <a:path h="5153025" w="2838450">
                <a:moveTo>
                  <a:pt x="0" y="0"/>
                </a:moveTo>
                <a:lnTo>
                  <a:pt x="2838450" y="0"/>
                </a:lnTo>
                <a:lnTo>
                  <a:pt x="2838450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048625" y="4067175"/>
            <a:ext cx="1971675" cy="866775"/>
          </a:xfrm>
          <a:custGeom>
            <a:avLst/>
            <a:gdLst/>
            <a:ahLst/>
            <a:cxnLst/>
            <a:rect r="r" b="b" t="t" l="l"/>
            <a:pathLst>
              <a:path h="866775" w="1971675">
                <a:moveTo>
                  <a:pt x="0" y="0"/>
                </a:moveTo>
                <a:lnTo>
                  <a:pt x="1971675" y="0"/>
                </a:lnTo>
                <a:lnTo>
                  <a:pt x="1971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048625" y="4714875"/>
            <a:ext cx="1971675" cy="857250"/>
          </a:xfrm>
          <a:custGeom>
            <a:avLst/>
            <a:gdLst/>
            <a:ahLst/>
            <a:cxnLst/>
            <a:rect r="r" b="b" t="t" l="l"/>
            <a:pathLst>
              <a:path h="857250" w="1971675">
                <a:moveTo>
                  <a:pt x="0" y="0"/>
                </a:moveTo>
                <a:lnTo>
                  <a:pt x="1971675" y="0"/>
                </a:lnTo>
                <a:lnTo>
                  <a:pt x="1971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048625" y="5353050"/>
            <a:ext cx="1971675" cy="866775"/>
          </a:xfrm>
          <a:custGeom>
            <a:avLst/>
            <a:gdLst/>
            <a:ahLst/>
            <a:cxnLst/>
            <a:rect r="r" b="b" t="t" l="l"/>
            <a:pathLst>
              <a:path h="866775" w="1971675">
                <a:moveTo>
                  <a:pt x="0" y="0"/>
                </a:moveTo>
                <a:lnTo>
                  <a:pt x="1971675" y="0"/>
                </a:lnTo>
                <a:lnTo>
                  <a:pt x="1971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048625" y="6000750"/>
            <a:ext cx="1971675" cy="647700"/>
          </a:xfrm>
          <a:custGeom>
            <a:avLst/>
            <a:gdLst/>
            <a:ahLst/>
            <a:cxnLst/>
            <a:rect r="r" b="b" t="t" l="l"/>
            <a:pathLst>
              <a:path h="647700" w="1971675">
                <a:moveTo>
                  <a:pt x="0" y="0"/>
                </a:moveTo>
                <a:lnTo>
                  <a:pt x="1971675" y="0"/>
                </a:lnTo>
                <a:lnTo>
                  <a:pt x="1971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193024" y="6901625"/>
            <a:ext cx="170078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8" spc="-3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OCR + vision identify key medicine details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27264" y="7918704"/>
            <a:ext cx="49377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3045" spc="-91" b="true">
                <a:solidFill>
                  <a:srgbClr val="F9A81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27264" y="8451913"/>
            <a:ext cx="204825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spc="-56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Extract key details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27264" y="8819681"/>
            <a:ext cx="2487168" cy="909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9"/>
              </a:lnSpc>
            </a:pPr>
            <a:r>
              <a:rPr lang="en-US" sz="1876" spc="-5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On-device OCR + vision read name, dose, expiry and barcode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229850" y="5143500"/>
            <a:ext cx="1095375" cy="428625"/>
          </a:xfrm>
          <a:custGeom>
            <a:avLst/>
            <a:gdLst/>
            <a:ahLst/>
            <a:cxnLst/>
            <a:rect r="r" b="b" t="t" l="l"/>
            <a:pathLst>
              <a:path h="428625" w="109537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315700" y="2781300"/>
            <a:ext cx="2619375" cy="5153025"/>
          </a:xfrm>
          <a:custGeom>
            <a:avLst/>
            <a:gdLst/>
            <a:ahLst/>
            <a:cxnLst/>
            <a:rect r="r" b="b" t="t" l="l"/>
            <a:pathLst>
              <a:path h="5153025" w="2619375">
                <a:moveTo>
                  <a:pt x="0" y="0"/>
                </a:moveTo>
                <a:lnTo>
                  <a:pt x="2619375" y="0"/>
                </a:lnTo>
                <a:lnTo>
                  <a:pt x="2619375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2070080" y="4040696"/>
            <a:ext cx="107899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b="true" sz="2124" spc="-63">
                <a:solidFill>
                  <a:srgbClr val="00803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Due now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960352" y="4419151"/>
            <a:ext cx="1280160" cy="40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5"/>
              </a:lnSpc>
            </a:pPr>
            <a:r>
              <a:rPr lang="en-US" b="true" sz="1450" spc="-4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It’s time to take your medicine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1972925" y="4924425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534775" y="6429375"/>
            <a:ext cx="2181225" cy="647700"/>
          </a:xfrm>
          <a:custGeom>
            <a:avLst/>
            <a:gdLst/>
            <a:ahLst/>
            <a:cxnLst/>
            <a:rect r="r" b="b" t="t" l="l"/>
            <a:pathLst>
              <a:path h="647700" w="2181225">
                <a:moveTo>
                  <a:pt x="0" y="0"/>
                </a:moveTo>
                <a:lnTo>
                  <a:pt x="2181225" y="0"/>
                </a:lnTo>
                <a:lnTo>
                  <a:pt x="2181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1534775" y="6858000"/>
            <a:ext cx="2181225" cy="647700"/>
          </a:xfrm>
          <a:custGeom>
            <a:avLst/>
            <a:gdLst/>
            <a:ahLst/>
            <a:cxnLst/>
            <a:rect r="r" b="b" t="t" l="l"/>
            <a:pathLst>
              <a:path h="647700" w="2181225">
                <a:moveTo>
                  <a:pt x="0" y="0"/>
                </a:moveTo>
                <a:lnTo>
                  <a:pt x="2181225" y="0"/>
                </a:lnTo>
                <a:lnTo>
                  <a:pt x="2181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1393424" y="7918704"/>
            <a:ext cx="49377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3045" spc="-91" b="true">
                <a:solidFill>
                  <a:srgbClr val="F9A81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393424" y="8451913"/>
            <a:ext cx="267004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 spc="-57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Decide action on-device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393424" y="8833744"/>
            <a:ext cx="2322576" cy="881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840" spc="-5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 fuses sensors and schedule to determine medication status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66928" y="2075879"/>
            <a:ext cx="866851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2230" spc="-66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From pickup detection to safe dose logging in five seamless steps.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99616" y="4456747"/>
            <a:ext cx="111556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167" spc="-3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Inspection ready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412480" y="3663315"/>
            <a:ext cx="122529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b="true" sz="1805" spc="-54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Identifying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229600" y="4336542"/>
            <a:ext cx="347472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7"/>
              </a:lnSpc>
            </a:pPr>
            <a:r>
              <a:rPr lang="en-US" sz="989" spc="-29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Name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229600" y="4492371"/>
            <a:ext cx="1280160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5"/>
              </a:lnSpc>
            </a:pPr>
            <a:r>
              <a:rPr lang="en-US" sz="1096" spc="-3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Metformin 500mg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229600" y="4929949"/>
            <a:ext cx="347472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167" spc="-35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Dose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229600" y="5217223"/>
            <a:ext cx="47548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3"/>
              </a:lnSpc>
            </a:pPr>
            <a:r>
              <a:rPr lang="en-US" sz="1060" spc="-3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500 mg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229600" y="5551932"/>
            <a:ext cx="420624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5"/>
              </a:lnSpc>
            </a:pPr>
            <a:r>
              <a:rPr lang="en-US" sz="1096" spc="-32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Expiry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229600" y="5722049"/>
            <a:ext cx="64008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167" spc="-3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08/2026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229600" y="6205537"/>
            <a:ext cx="585216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167" spc="-35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Barcode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229600" y="6385179"/>
            <a:ext cx="1024128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5"/>
              </a:lnSpc>
            </a:pPr>
            <a:r>
              <a:rPr lang="en-US" sz="1096" spc="-3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8901234567890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271248" y="3663315"/>
            <a:ext cx="69494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b="true" sz="1805" spc="-54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Status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471648" y="3668078"/>
            <a:ext cx="122529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8"/>
              </a:lnSpc>
            </a:pPr>
            <a:r>
              <a:rPr lang="en-US" b="true" sz="1698" spc="-5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Dose logged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416784" y="5334694"/>
            <a:ext cx="1353312" cy="40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5"/>
              </a:lnSpc>
            </a:pPr>
            <a:r>
              <a:rPr lang="en-US" b="true" sz="1450" spc="-4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Stay consistent, stay healthy.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649456" y="6164389"/>
            <a:ext cx="64008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167" spc="-3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Based 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106656" y="6673215"/>
            <a:ext cx="749808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5"/>
              </a:lnSpc>
            </a:pPr>
            <a:r>
              <a:rPr lang="en-US" sz="1096" spc="-3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Sensor data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106656" y="7156704"/>
            <a:ext cx="877824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5"/>
              </a:lnSpc>
            </a:pPr>
            <a:r>
              <a:rPr lang="en-US" sz="1096" spc="-3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Your schedule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886432" y="7918704"/>
            <a:ext cx="49377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3045" spc="-91" b="true">
                <a:solidFill>
                  <a:srgbClr val="F9A81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05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886432" y="8451913"/>
            <a:ext cx="151790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 spc="-57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Guide and log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886432" y="8819681"/>
            <a:ext cx="2670048" cy="909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9"/>
              </a:lnSpc>
            </a:pPr>
            <a:r>
              <a:rPr lang="en-US" sz="1876" spc="-5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Screen, voice and haptic guide the user and log the dose event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71500" y="9801225"/>
            <a:ext cx="9525000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67E8F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CAPTURE GATE  |  capture_ready = package detected + low IMU variance + sufficient frame quality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6656" y="2757297"/>
            <a:ext cx="574243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62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SenseGuard combines multiple signals to verify medication safely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6656" y="3795522"/>
            <a:ext cx="449884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Delivers structured confidence levels, not just real or fake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6656" y="4783836"/>
            <a:ext cx="440740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Every result is explained with clear reasons you can trust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5781675"/>
            <a:ext cx="7848600" cy="3438525"/>
          </a:xfrm>
          <a:custGeom>
            <a:avLst/>
            <a:gdLst/>
            <a:ahLst/>
            <a:cxnLst/>
            <a:rect r="r" b="b" t="t" l="l"/>
            <a:pathLst>
              <a:path h="3438525" w="7848600">
                <a:moveTo>
                  <a:pt x="0" y="0"/>
                </a:moveTo>
                <a:lnTo>
                  <a:pt x="7848600" y="0"/>
                </a:lnTo>
                <a:lnTo>
                  <a:pt x="784860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52144" y="6155051"/>
            <a:ext cx="2907792" cy="44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49">
                <a:solidFill>
                  <a:srgbClr val="7ED9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ALL CHECKS PASS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438775" y="6638925"/>
            <a:ext cx="228600" cy="2152650"/>
          </a:xfrm>
          <a:custGeom>
            <a:avLst/>
            <a:gdLst/>
            <a:ahLst/>
            <a:cxnLst/>
            <a:rect r="r" b="b" t="t" l="l"/>
            <a:pathLst>
              <a:path h="2152650" w="228600">
                <a:moveTo>
                  <a:pt x="0" y="0"/>
                </a:moveTo>
                <a:lnTo>
                  <a:pt x="228600" y="0"/>
                </a:lnTo>
                <a:lnTo>
                  <a:pt x="2286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08192" y="6827520"/>
            <a:ext cx="1664208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b="true" sz="4783">
                <a:solidFill>
                  <a:srgbClr val="7ED9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TAKE</a:t>
            </a:r>
          </a:p>
          <a:p>
            <a:pPr algn="ctr">
              <a:lnSpc>
                <a:spcPts val="5739"/>
              </a:lnSpc>
            </a:pPr>
            <a:r>
              <a:rPr lang="en-US" b="true" sz="4783">
                <a:solidFill>
                  <a:srgbClr val="7ED9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62288" y="802367"/>
            <a:ext cx="3182112" cy="29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663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MULTIPLE EVIDENCE SOURCES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048625" y="1285875"/>
            <a:ext cx="5019675" cy="857250"/>
          </a:xfrm>
          <a:custGeom>
            <a:avLst/>
            <a:gdLst/>
            <a:ahLst/>
            <a:cxnLst/>
            <a:rect r="r" b="b" t="t" l="l"/>
            <a:pathLst>
              <a:path h="857250" w="5019675">
                <a:moveTo>
                  <a:pt x="0" y="0"/>
                </a:moveTo>
                <a:lnTo>
                  <a:pt x="5019675" y="0"/>
                </a:lnTo>
                <a:lnTo>
                  <a:pt x="5019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62288" y="1525781"/>
            <a:ext cx="1536192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Q</a:t>
            </a:r>
            <a:r>
              <a:rPr lang="en-US" b="true" sz="1805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 IDENTITY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829550" y="1924050"/>
            <a:ext cx="5238750" cy="1076325"/>
          </a:xfrm>
          <a:custGeom>
            <a:avLst/>
            <a:gdLst/>
            <a:ahLst/>
            <a:cxnLst/>
            <a:rect r="r" b="b" t="t" l="l"/>
            <a:pathLst>
              <a:path h="1076325" w="5238750">
                <a:moveTo>
                  <a:pt x="0" y="0"/>
                </a:moveTo>
                <a:lnTo>
                  <a:pt x="5238750" y="0"/>
                </a:lnTo>
                <a:lnTo>
                  <a:pt x="5238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162288" y="2396852"/>
            <a:ext cx="2487168" cy="29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663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PACKAGING SIGNATURE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829550" y="2781300"/>
            <a:ext cx="5457825" cy="1295400"/>
          </a:xfrm>
          <a:custGeom>
            <a:avLst/>
            <a:gdLst/>
            <a:ahLst/>
            <a:cxnLst/>
            <a:rect r="r" b="b" t="t" l="l"/>
            <a:pathLst>
              <a:path h="1295400" w="5457825">
                <a:moveTo>
                  <a:pt x="0" y="0"/>
                </a:moveTo>
                <a:lnTo>
                  <a:pt x="5457825" y="0"/>
                </a:lnTo>
                <a:lnTo>
                  <a:pt x="54578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162288" y="3232211"/>
            <a:ext cx="1572768" cy="3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769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BARCODE / QR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829550" y="3638550"/>
            <a:ext cx="5457825" cy="1295400"/>
          </a:xfrm>
          <a:custGeom>
            <a:avLst/>
            <a:gdLst/>
            <a:ahLst/>
            <a:cxnLst/>
            <a:rect r="r" b="b" t="t" l="l"/>
            <a:pathLst>
              <a:path h="1295400" w="5457825">
                <a:moveTo>
                  <a:pt x="0" y="0"/>
                </a:moveTo>
                <a:lnTo>
                  <a:pt x="5457825" y="0"/>
                </a:lnTo>
                <a:lnTo>
                  <a:pt x="54578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162288" y="4162354"/>
            <a:ext cx="1572768" cy="29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1734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EXPIRY CHECK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829550" y="4495800"/>
            <a:ext cx="5457825" cy="1076325"/>
          </a:xfrm>
          <a:custGeom>
            <a:avLst/>
            <a:gdLst/>
            <a:ahLst/>
            <a:cxnLst/>
            <a:rect r="r" b="b" t="t" l="l"/>
            <a:pathLst>
              <a:path h="1076325" w="5457825">
                <a:moveTo>
                  <a:pt x="0" y="0"/>
                </a:moveTo>
                <a:lnTo>
                  <a:pt x="5457825" y="0"/>
                </a:lnTo>
                <a:lnTo>
                  <a:pt x="5457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162288" y="4999913"/>
            <a:ext cx="2596896" cy="290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PRESCRIPTION CONTEXT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620625" y="1714500"/>
            <a:ext cx="2190750" cy="2143125"/>
          </a:xfrm>
          <a:custGeom>
            <a:avLst/>
            <a:gdLst/>
            <a:ahLst/>
            <a:cxnLst/>
            <a:rect r="r" b="b" t="t" l="l"/>
            <a:pathLst>
              <a:path h="2143125" w="2190750">
                <a:moveTo>
                  <a:pt x="0" y="0"/>
                </a:moveTo>
                <a:lnTo>
                  <a:pt x="2190750" y="0"/>
                </a:lnTo>
                <a:lnTo>
                  <a:pt x="21907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839700" y="3429000"/>
            <a:ext cx="1971675" cy="1714500"/>
          </a:xfrm>
          <a:custGeom>
            <a:avLst/>
            <a:gdLst/>
            <a:ahLst/>
            <a:cxnLst/>
            <a:rect r="r" b="b" t="t" l="l"/>
            <a:pathLst>
              <a:path h="1714500" w="1971675">
                <a:moveTo>
                  <a:pt x="0" y="0"/>
                </a:moveTo>
                <a:lnTo>
                  <a:pt x="1971675" y="0"/>
                </a:lnTo>
                <a:lnTo>
                  <a:pt x="19716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557248" y="1956780"/>
            <a:ext cx="3072384" cy="26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7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FUSED &amp; EXPLAINABLE OUTPUT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582775" y="2352675"/>
            <a:ext cx="3057525" cy="2790825"/>
          </a:xfrm>
          <a:custGeom>
            <a:avLst/>
            <a:gdLst/>
            <a:ahLst/>
            <a:cxnLst/>
            <a:rect r="r" b="b" t="t" l="l"/>
            <a:pathLst>
              <a:path h="2790825" w="3057525">
                <a:moveTo>
                  <a:pt x="0" y="0"/>
                </a:moveTo>
                <a:lnTo>
                  <a:pt x="3057525" y="0"/>
                </a:lnTo>
                <a:lnTo>
                  <a:pt x="30575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240000" y="2781300"/>
            <a:ext cx="1524000" cy="866775"/>
          </a:xfrm>
          <a:custGeom>
            <a:avLst/>
            <a:gdLst/>
            <a:ahLst/>
            <a:cxnLst/>
            <a:rect r="r" b="b" t="t" l="l"/>
            <a:pathLst>
              <a:path h="866775" w="1524000">
                <a:moveTo>
                  <a:pt x="0" y="0"/>
                </a:moveTo>
                <a:lnTo>
                  <a:pt x="1524000" y="0"/>
                </a:lnTo>
                <a:lnTo>
                  <a:pt x="15240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197328" y="4229462"/>
            <a:ext cx="2011680" cy="586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1663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Reason: packaging mismatch detected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486775" y="5781675"/>
            <a:ext cx="9153525" cy="3438525"/>
          </a:xfrm>
          <a:custGeom>
            <a:avLst/>
            <a:gdLst/>
            <a:ahLst/>
            <a:cxnLst/>
            <a:rect r="r" b="b" t="t" l="l"/>
            <a:pathLst>
              <a:path h="3438525" w="9153525">
                <a:moveTo>
                  <a:pt x="0" y="0"/>
                </a:moveTo>
                <a:lnTo>
                  <a:pt x="9153525" y="0"/>
                </a:lnTo>
                <a:lnTo>
                  <a:pt x="915352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162288" y="6155051"/>
            <a:ext cx="3566160" cy="44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49">
                <a:solidFill>
                  <a:srgbClr val="F9A82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PACKAGING WARNING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716000" y="6638925"/>
            <a:ext cx="219075" cy="2152650"/>
          </a:xfrm>
          <a:custGeom>
            <a:avLst/>
            <a:gdLst/>
            <a:ahLst/>
            <a:cxnLst/>
            <a:rect r="r" b="b" t="t" l="l"/>
            <a:pathLst>
              <a:path h="2152650" w="219075">
                <a:moveTo>
                  <a:pt x="0" y="0"/>
                </a:moveTo>
                <a:lnTo>
                  <a:pt x="219075" y="0"/>
                </a:lnTo>
                <a:lnTo>
                  <a:pt x="21907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4264640" y="6545009"/>
            <a:ext cx="2779776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b="true" sz="3187">
                <a:solidFill>
                  <a:srgbClr val="F9A82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DO NOT RELY ON VISUAL CHECK ALONE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264640" y="8098430"/>
            <a:ext cx="2834640" cy="65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1911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Review details and seek professional advice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197328" y="3560840"/>
            <a:ext cx="1865376" cy="38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b="true" sz="2266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CONFIDENCE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52144" y="6734104"/>
            <a:ext cx="1572768" cy="29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1734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Id</a:t>
            </a:r>
            <a:r>
              <a:rPr lang="en-US" sz="1734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entity match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52144" y="7160183"/>
            <a:ext cx="2139696" cy="290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</a:t>
            </a:r>
            <a:r>
              <a:rPr lang="en-US" sz="1698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ackaging signature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2144" y="7574537"/>
            <a:ext cx="1499616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Barcode</a:t>
            </a:r>
            <a:r>
              <a:rPr lang="en-US" sz="1805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/ QR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52144" y="8006591"/>
            <a:ext cx="1298448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</a:t>
            </a:r>
            <a:r>
              <a:rPr lang="en-US" sz="1805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piry valid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52144" y="8437433"/>
            <a:ext cx="2231136" cy="3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769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Prescription</a:t>
            </a:r>
            <a:r>
              <a:rPr lang="en-US" sz="1769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context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370832" y="6720716"/>
            <a:ext cx="658368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7"/>
              </a:lnSpc>
            </a:pPr>
            <a:r>
              <a:rPr lang="en-US" b="true" sz="1805">
                <a:solidFill>
                  <a:srgbClr val="7ED9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PASS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370832" y="7142483"/>
            <a:ext cx="658368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7"/>
              </a:lnSpc>
            </a:pPr>
            <a:r>
              <a:rPr lang="en-US" b="true" sz="1805">
                <a:solidFill>
                  <a:srgbClr val="7ED9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PASS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370832" y="7574537"/>
            <a:ext cx="658368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7"/>
              </a:lnSpc>
            </a:pPr>
            <a:r>
              <a:rPr lang="en-US" b="true" sz="1805">
                <a:solidFill>
                  <a:srgbClr val="7ED9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PASS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370832" y="8006591"/>
            <a:ext cx="658368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7"/>
              </a:lnSpc>
            </a:pPr>
            <a:r>
              <a:rPr lang="en-US" b="true" sz="1805">
                <a:solidFill>
                  <a:srgbClr val="7ED9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PASS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70832" y="8428358"/>
            <a:ext cx="658368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7"/>
              </a:lnSpc>
            </a:pPr>
            <a:r>
              <a:rPr lang="en-US" b="true" sz="1805">
                <a:solidFill>
                  <a:srgbClr val="7ED9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PASS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62288" y="6734104"/>
            <a:ext cx="1572768" cy="29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1734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Id</a:t>
            </a:r>
            <a:r>
              <a:rPr lang="en-US" sz="1734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entity match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162288" y="7160183"/>
            <a:ext cx="2139696" cy="290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</a:t>
            </a:r>
            <a:r>
              <a:rPr lang="en-US" sz="1698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ackaging signature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62288" y="7574537"/>
            <a:ext cx="1499616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Barcode</a:t>
            </a:r>
            <a:r>
              <a:rPr lang="en-US" sz="1805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/ QR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162288" y="8006591"/>
            <a:ext cx="1298448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</a:t>
            </a:r>
            <a:r>
              <a:rPr lang="en-US" sz="1805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piry valid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162288" y="8437433"/>
            <a:ext cx="2231136" cy="3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769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Prescription</a:t>
            </a:r>
            <a:r>
              <a:rPr lang="en-US" sz="1769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context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417552" y="6720716"/>
            <a:ext cx="658368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7"/>
              </a:lnSpc>
            </a:pPr>
            <a:r>
              <a:rPr lang="en-US" b="true" sz="1805">
                <a:solidFill>
                  <a:srgbClr val="7ED9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PASS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417552" y="7159733"/>
            <a:ext cx="1024128" cy="29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28"/>
              </a:lnSpc>
            </a:pPr>
            <a:r>
              <a:rPr lang="en-US" b="true" sz="1663">
                <a:solidFill>
                  <a:srgbClr val="F9A82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WARNING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417552" y="7574537"/>
            <a:ext cx="658368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7"/>
              </a:lnSpc>
            </a:pPr>
            <a:r>
              <a:rPr lang="en-US" b="true" sz="1805">
                <a:solidFill>
                  <a:srgbClr val="7ED9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PASS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417552" y="8006591"/>
            <a:ext cx="658368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7"/>
              </a:lnSpc>
            </a:pPr>
            <a:r>
              <a:rPr lang="en-US" b="true" sz="1805">
                <a:solidFill>
                  <a:srgbClr val="7ED9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PASS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17552" y="8428358"/>
            <a:ext cx="658368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7"/>
              </a:lnSpc>
            </a:pPr>
            <a:r>
              <a:rPr lang="en-US" b="true" sz="1805">
                <a:solidFill>
                  <a:srgbClr val="7ED95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PASS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03504" y="582198"/>
            <a:ext cx="7095744" cy="196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2"/>
              </a:lnSpc>
            </a:pPr>
            <a:r>
              <a:rPr lang="en-US" sz="7512" spc="-225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Verification &amp; </a:t>
            </a:r>
            <a:r>
              <a:rPr lang="en-US" sz="7512" spc="-225" b="true">
                <a:solidFill>
                  <a:srgbClr val="F9A82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Evidence Fusion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76275" y="5705475"/>
            <a:ext cx="7620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67E8F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Explainability: identity, packaging, identifier, expiry, prescription, and location-confidence signals fuse into structured PASS / WARNING / UNKNOWN states.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163050" y="5705475"/>
            <a:ext cx="4762500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FFBD5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Screening support — not counterfeit certification.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5488" y="838251"/>
            <a:ext cx="5705856" cy="1649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094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Demo Scenario Highlights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8625" y="6210300"/>
            <a:ext cx="5667375" cy="219075"/>
          </a:xfrm>
          <a:custGeom>
            <a:avLst/>
            <a:gdLst/>
            <a:ahLst/>
            <a:cxnLst/>
            <a:rect r="r" b="b" t="t" l="l"/>
            <a:pathLst>
              <a:path h="219075" w="5667375">
                <a:moveTo>
                  <a:pt x="0" y="0"/>
                </a:moveTo>
                <a:lnTo>
                  <a:pt x="5667375" y="0"/>
                </a:lnTo>
                <a:lnTo>
                  <a:pt x="5667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43700" y="428625"/>
            <a:ext cx="5238750" cy="8572500"/>
          </a:xfrm>
          <a:custGeom>
            <a:avLst/>
            <a:gdLst/>
            <a:ahLst/>
            <a:cxnLst/>
            <a:rect r="r" b="b" t="t" l="l"/>
            <a:pathLst>
              <a:path h="8572500" w="5238750">
                <a:moveTo>
                  <a:pt x="0" y="0"/>
                </a:moveTo>
                <a:lnTo>
                  <a:pt x="5238750" y="0"/>
                </a:lnTo>
                <a:lnTo>
                  <a:pt x="523875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72925" y="428625"/>
            <a:ext cx="5886450" cy="8572500"/>
          </a:xfrm>
          <a:custGeom>
            <a:avLst/>
            <a:gdLst/>
            <a:ahLst/>
            <a:cxnLst/>
            <a:rect r="r" b="b" t="t" l="l"/>
            <a:pathLst>
              <a:path h="8572500" w="5886450">
                <a:moveTo>
                  <a:pt x="0" y="0"/>
                </a:moveTo>
                <a:lnTo>
                  <a:pt x="5886450" y="0"/>
                </a:lnTo>
                <a:lnTo>
                  <a:pt x="588645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2400" y="9141312"/>
            <a:ext cx="2779776" cy="42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b="true" sz="2443">
                <a:solidFill>
                  <a:srgbClr val="F9A4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PHARMACY MODE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08608" y="9141312"/>
            <a:ext cx="1920240" cy="42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b="true" sz="2443">
                <a:solidFill>
                  <a:srgbClr val="F9A4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HOME MODE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5488" y="2586018"/>
            <a:ext cx="5833872" cy="70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7"/>
              </a:lnSpc>
            </a:pPr>
            <a:r>
              <a:rPr lang="en-US" sz="5102" b="true">
                <a:solidFill>
                  <a:srgbClr val="F9A4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Pharmacy &amp; 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5488" y="4004237"/>
            <a:ext cx="2542032" cy="431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14" b="true">
                <a:solidFill>
                  <a:srgbClr val="F9A4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Pharmacy mode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5488" y="4536286"/>
            <a:ext cx="2560320" cy="40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Scan in pharmacy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5488" y="5050186"/>
            <a:ext cx="2322576" cy="40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Validate &amp; verify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5488" y="5543962"/>
            <a:ext cx="4645152" cy="40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 b="true">
                <a:solidFill>
                  <a:srgbClr val="F9A4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This matches your prescription.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5488" y="6834513"/>
            <a:ext cx="1938528" cy="43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 b="true">
                <a:solidFill>
                  <a:srgbClr val="F9A4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Home mode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5488" y="7366874"/>
            <a:ext cx="1993392" cy="422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8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Due reminder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5488" y="7889848"/>
            <a:ext cx="2121408" cy="40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Confirm intake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5488" y="8385287"/>
            <a:ext cx="2596896" cy="422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8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Logged on device</a:t>
            </a:r>
          </a:p>
        </p:txBody>
      </p:sp>
      <p:sp>
        <p:nvSpPr>
          <p:cNvPr name="TextBox 18" id="18"/>
          <p:cNvSpPr txBox="true"/>
          <p:nvPr/>
        </p:nvSpPr>
        <p:spPr>
          <a:xfrm rot="270000">
            <a:off x="8560840" y="6558448"/>
            <a:ext cx="1353312" cy="35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273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This matches your prescription.</a:t>
            </a:r>
          </a:p>
        </p:txBody>
      </p:sp>
      <p:sp>
        <p:nvSpPr>
          <p:cNvPr name="TextBox 19" id="19"/>
          <p:cNvSpPr txBox="true"/>
          <p:nvPr/>
        </p:nvSpPr>
        <p:spPr>
          <a:xfrm rot="270000">
            <a:off x="8286780" y="4906208"/>
            <a:ext cx="1572768" cy="509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"/>
              </a:lnSpc>
            </a:pPr>
            <a:r>
              <a:rPr lang="en-US" sz="137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Metformin 500 mg 30 Tablets</a:t>
            </a:r>
          </a:p>
        </p:txBody>
      </p:sp>
      <p:sp>
        <p:nvSpPr>
          <p:cNvPr name="TextBox 20" id="20"/>
          <p:cNvSpPr txBox="true"/>
          <p:nvPr/>
        </p:nvSpPr>
        <p:spPr>
          <a:xfrm rot="270000">
            <a:off x="8468735" y="5643051"/>
            <a:ext cx="1261872" cy="381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09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Match confirmed</a:t>
            </a:r>
          </a:p>
          <a:p>
            <a:pPr algn="l">
              <a:lnSpc>
                <a:spcPts val="1534"/>
              </a:lnSpc>
            </a:pPr>
            <a:r>
              <a:rPr lang="en-US" sz="109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Expire valo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86750" y="8334375"/>
            <a:ext cx="66675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67E8F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LOCAL-FIRST  |  Room/SQLite record + offline-first decision path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67700" y="2352675"/>
            <a:ext cx="1533525" cy="3438525"/>
          </a:xfrm>
          <a:custGeom>
            <a:avLst/>
            <a:gdLst/>
            <a:ahLst/>
            <a:cxnLst/>
            <a:rect r="r" b="b" t="t" l="l"/>
            <a:pathLst>
              <a:path h="3438525" w="1533525">
                <a:moveTo>
                  <a:pt x="0" y="0"/>
                </a:moveTo>
                <a:lnTo>
                  <a:pt x="1533525" y="0"/>
                </a:lnTo>
                <a:lnTo>
                  <a:pt x="153352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20625" y="2571750"/>
            <a:ext cx="1533525" cy="3429000"/>
          </a:xfrm>
          <a:custGeom>
            <a:avLst/>
            <a:gdLst/>
            <a:ahLst/>
            <a:cxnLst/>
            <a:rect r="r" b="b" t="t" l="l"/>
            <a:pathLst>
              <a:path h="3429000" w="1533525">
                <a:moveTo>
                  <a:pt x="0" y="0"/>
                </a:moveTo>
                <a:lnTo>
                  <a:pt x="1533525" y="0"/>
                </a:lnTo>
                <a:lnTo>
                  <a:pt x="153352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64000" y="3209925"/>
            <a:ext cx="1095375" cy="2581275"/>
          </a:xfrm>
          <a:custGeom>
            <a:avLst/>
            <a:gdLst/>
            <a:ahLst/>
            <a:cxnLst/>
            <a:rect r="r" b="b" t="t" l="l"/>
            <a:pathLst>
              <a:path h="2581275" w="1095375">
                <a:moveTo>
                  <a:pt x="0" y="0"/>
                </a:moveTo>
                <a:lnTo>
                  <a:pt x="1095375" y="0"/>
                </a:lnTo>
                <a:lnTo>
                  <a:pt x="10953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29550" y="8353425"/>
            <a:ext cx="10248900" cy="1933575"/>
          </a:xfrm>
          <a:custGeom>
            <a:avLst/>
            <a:gdLst/>
            <a:ahLst/>
            <a:cxnLst/>
            <a:rect r="r" b="b" t="t" l="l"/>
            <a:pathLst>
              <a:path h="1933575" w="10248900">
                <a:moveTo>
                  <a:pt x="0" y="0"/>
                </a:moveTo>
                <a:lnTo>
                  <a:pt x="10248900" y="0"/>
                </a:lnTo>
                <a:lnTo>
                  <a:pt x="102489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53550" y="1714500"/>
            <a:ext cx="3495675" cy="7286625"/>
          </a:xfrm>
          <a:custGeom>
            <a:avLst/>
            <a:gdLst/>
            <a:ahLst/>
            <a:cxnLst/>
            <a:rect r="r" b="b" t="t" l="l"/>
            <a:pathLst>
              <a:path h="7286625" w="3495675">
                <a:moveTo>
                  <a:pt x="0" y="0"/>
                </a:moveTo>
                <a:lnTo>
                  <a:pt x="3495675" y="0"/>
                </a:lnTo>
                <a:lnTo>
                  <a:pt x="3495675" y="7286625"/>
                </a:lnTo>
                <a:lnTo>
                  <a:pt x="0" y="7286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96925" y="1714500"/>
            <a:ext cx="3486150" cy="7286625"/>
          </a:xfrm>
          <a:custGeom>
            <a:avLst/>
            <a:gdLst/>
            <a:ahLst/>
            <a:cxnLst/>
            <a:rect r="r" b="b" t="t" l="l"/>
            <a:pathLst>
              <a:path h="7286625" w="3486150">
                <a:moveTo>
                  <a:pt x="0" y="0"/>
                </a:moveTo>
                <a:lnTo>
                  <a:pt x="3486150" y="0"/>
                </a:lnTo>
                <a:lnTo>
                  <a:pt x="3486150" y="7286625"/>
                </a:lnTo>
                <a:lnTo>
                  <a:pt x="0" y="7286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03504" y="834729"/>
            <a:ext cx="9710928" cy="790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8"/>
              </a:lnSpc>
            </a:pPr>
            <a:r>
              <a:rPr lang="en-US" sz="5988" spc="-179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Demo Scenario Highlights 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3504" y="1767073"/>
            <a:ext cx="8119872" cy="1805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45"/>
              </a:lnSpc>
            </a:pPr>
            <a:r>
              <a:rPr lang="en-US" sz="6945" spc="-208" b="true">
                <a:solidFill>
                  <a:srgbClr val="F9A82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Wrong &amp; Suspicious Packaging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3312" y="4328545"/>
            <a:ext cx="2450592" cy="34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549" spc="-76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Wrong Medicine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3312" y="4734736"/>
            <a:ext cx="4279392" cy="718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 spc="-6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Phone detects medicine not due now → red alert and haptic feedback: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3312" y="5498589"/>
            <a:ext cx="4370832" cy="37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 spc="-64" b="true">
                <a:solidFill>
                  <a:srgbClr val="E13F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“NOT DUE — scheduled for tonight”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657850" y="4714875"/>
            <a:ext cx="3486150" cy="428625"/>
          </a:xfrm>
          <a:custGeom>
            <a:avLst/>
            <a:gdLst/>
            <a:ahLst/>
            <a:cxnLst/>
            <a:rect r="r" b="b" t="t" l="l"/>
            <a:pathLst>
              <a:path h="428625" w="3486150">
                <a:moveTo>
                  <a:pt x="0" y="0"/>
                </a:moveTo>
                <a:lnTo>
                  <a:pt x="3486150" y="0"/>
                </a:lnTo>
                <a:lnTo>
                  <a:pt x="3486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53312" y="6390257"/>
            <a:ext cx="3310128" cy="34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2585" spc="-77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Suspicious Packaging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3312" y="6781589"/>
            <a:ext cx="5522976" cy="34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spc="-6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Packaging signature mismatch triggers warning: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3312" y="7165533"/>
            <a:ext cx="6053328" cy="37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 spc="-65" b="true">
                <a:solidFill>
                  <a:srgbClr val="F9A82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“PACKAGING MISMATCH — consult pharmacist”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962775" y="6858000"/>
            <a:ext cx="2181225" cy="219075"/>
          </a:xfrm>
          <a:custGeom>
            <a:avLst/>
            <a:gdLst/>
            <a:ahLst/>
            <a:cxnLst/>
            <a:rect r="r" b="b" t="t" l="l"/>
            <a:pathLst>
              <a:path h="219075" w="2181225">
                <a:moveTo>
                  <a:pt x="0" y="0"/>
                </a:moveTo>
                <a:lnTo>
                  <a:pt x="2181225" y="0"/>
                </a:lnTo>
                <a:lnTo>
                  <a:pt x="2181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53312" y="8161422"/>
            <a:ext cx="2670048" cy="32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sz="2443" spc="-73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Community Safety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3312" y="8551213"/>
            <a:ext cx="5230368" cy="718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 spc="-6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System logs suspicious events anonymously for community safety analytics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743700" y="8572500"/>
            <a:ext cx="2400300" cy="428625"/>
          </a:xfrm>
          <a:custGeom>
            <a:avLst/>
            <a:gdLst/>
            <a:ahLst/>
            <a:cxnLst/>
            <a:rect r="r" b="b" t="t" l="l"/>
            <a:pathLst>
              <a:path h="428625" w="2400300">
                <a:moveTo>
                  <a:pt x="0" y="0"/>
                </a:moveTo>
                <a:lnTo>
                  <a:pt x="2400300" y="0"/>
                </a:lnTo>
                <a:lnTo>
                  <a:pt x="2400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572625" y="2571750"/>
            <a:ext cx="2838450" cy="2362200"/>
          </a:xfrm>
          <a:custGeom>
            <a:avLst/>
            <a:gdLst/>
            <a:ahLst/>
            <a:cxnLst/>
            <a:rect r="r" b="b" t="t" l="l"/>
            <a:pathLst>
              <a:path h="2362200" w="2838450">
                <a:moveTo>
                  <a:pt x="0" y="0"/>
                </a:moveTo>
                <a:lnTo>
                  <a:pt x="2838450" y="0"/>
                </a:lnTo>
                <a:lnTo>
                  <a:pt x="2838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572625" y="4924425"/>
            <a:ext cx="2838450" cy="2152650"/>
          </a:xfrm>
          <a:custGeom>
            <a:avLst/>
            <a:gdLst/>
            <a:ahLst/>
            <a:cxnLst/>
            <a:rect r="r" b="b" t="t" l="l"/>
            <a:pathLst>
              <a:path h="2152650" w="2838450">
                <a:moveTo>
                  <a:pt x="0" y="0"/>
                </a:moveTo>
                <a:lnTo>
                  <a:pt x="2838450" y="0"/>
                </a:lnTo>
                <a:lnTo>
                  <a:pt x="28384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668000" y="514350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41280" y="6097304"/>
            <a:ext cx="1645920" cy="42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b="true" sz="3152" spc="-94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NOT DUE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40112" y="6532226"/>
            <a:ext cx="2029968" cy="29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1663" spc="-4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Scheduled for tonight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572625" y="7067550"/>
            <a:ext cx="2838450" cy="1076325"/>
          </a:xfrm>
          <a:custGeom>
            <a:avLst/>
            <a:gdLst/>
            <a:ahLst/>
            <a:cxnLst/>
            <a:rect r="r" b="b" t="t" l="l"/>
            <a:pathLst>
              <a:path h="1076325" w="2838450">
                <a:moveTo>
                  <a:pt x="0" y="0"/>
                </a:moveTo>
                <a:lnTo>
                  <a:pt x="2838450" y="0"/>
                </a:lnTo>
                <a:lnTo>
                  <a:pt x="283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010775" y="728662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424160" y="7460462"/>
            <a:ext cx="1664208" cy="34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b="true" sz="2017" spc="-60">
                <a:solidFill>
                  <a:srgbClr val="E13F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HAPTIC ALERT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925550" y="2571750"/>
            <a:ext cx="2838450" cy="2362200"/>
          </a:xfrm>
          <a:custGeom>
            <a:avLst/>
            <a:gdLst/>
            <a:ahLst/>
            <a:cxnLst/>
            <a:rect r="r" b="b" t="t" l="l"/>
            <a:pathLst>
              <a:path h="2362200" w="2838450">
                <a:moveTo>
                  <a:pt x="0" y="0"/>
                </a:moveTo>
                <a:lnTo>
                  <a:pt x="2838450" y="0"/>
                </a:lnTo>
                <a:lnTo>
                  <a:pt x="2838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925550" y="4924425"/>
            <a:ext cx="2838450" cy="2581275"/>
          </a:xfrm>
          <a:custGeom>
            <a:avLst/>
            <a:gdLst/>
            <a:ahLst/>
            <a:cxnLst/>
            <a:rect r="r" b="b" t="t" l="l"/>
            <a:pathLst>
              <a:path h="2581275" w="2838450">
                <a:moveTo>
                  <a:pt x="0" y="0"/>
                </a:moveTo>
                <a:lnTo>
                  <a:pt x="2838450" y="0"/>
                </a:lnTo>
                <a:lnTo>
                  <a:pt x="283845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801850" y="514350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4209776" y="6041136"/>
            <a:ext cx="212140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b="true" sz="2797" spc="-8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PACKAGING MISMATCH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01216" y="6842948"/>
            <a:ext cx="1920240" cy="3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7"/>
              </a:lnSpc>
            </a:pPr>
            <a:r>
              <a:rPr lang="en-US" sz="1769" spc="-53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Consult pharmacist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3925550" y="7286625"/>
            <a:ext cx="2838450" cy="1076325"/>
          </a:xfrm>
          <a:custGeom>
            <a:avLst/>
            <a:gdLst/>
            <a:ahLst/>
            <a:cxnLst/>
            <a:rect r="r" b="b" t="t" l="l"/>
            <a:pathLst>
              <a:path h="1076325" w="2838450">
                <a:moveTo>
                  <a:pt x="0" y="0"/>
                </a:moveTo>
                <a:lnTo>
                  <a:pt x="2838450" y="0"/>
                </a:lnTo>
                <a:lnTo>
                  <a:pt x="283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4144625" y="771525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4612112" y="7717637"/>
            <a:ext cx="1664208" cy="34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b="true" sz="2017" spc="-60">
                <a:solidFill>
                  <a:srgbClr val="E13F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HAPTIC ALERT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2401550" y="6638925"/>
            <a:ext cx="1533525" cy="438150"/>
          </a:xfrm>
          <a:custGeom>
            <a:avLst/>
            <a:gdLst/>
            <a:ahLst/>
            <a:cxnLst/>
            <a:rect r="r" b="b" t="t" l="l"/>
            <a:pathLst>
              <a:path h="438150" w="1533525">
                <a:moveTo>
                  <a:pt x="0" y="0"/>
                </a:moveTo>
                <a:lnTo>
                  <a:pt x="1533525" y="0"/>
                </a:lnTo>
                <a:lnTo>
                  <a:pt x="1533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8572500" y="8848725"/>
            <a:ext cx="8096250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67E8F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PRIVACY DEFAULT  |  Suspicious events use coarse location buckets; raw medicine images stay on-device by default.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792" y="590683"/>
            <a:ext cx="11009376" cy="91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4"/>
              </a:lnSpc>
            </a:pPr>
            <a:r>
              <a:rPr lang="en-US" sz="6874" spc="-137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Clinician Communication &amp;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1792" y="1441214"/>
            <a:ext cx="10954512" cy="95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7193" spc="-143" b="true">
                <a:solidFill>
                  <a:srgbClr val="F9A83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Phone-First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1792" y="2474595"/>
            <a:ext cx="870508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spc="-50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From clinician instructions to safe, guided medication use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8625" y="3638550"/>
            <a:ext cx="5019675" cy="2362200"/>
          </a:xfrm>
          <a:custGeom>
            <a:avLst/>
            <a:gdLst/>
            <a:ahLst/>
            <a:cxnLst/>
            <a:rect r="r" b="b" t="t" l="l"/>
            <a:pathLst>
              <a:path h="2362200" w="5019675">
                <a:moveTo>
                  <a:pt x="0" y="0"/>
                </a:moveTo>
                <a:lnTo>
                  <a:pt x="5019675" y="0"/>
                </a:lnTo>
                <a:lnTo>
                  <a:pt x="50196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7700" y="3857625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390775" y="4286250"/>
            <a:ext cx="447675" cy="857250"/>
          </a:xfrm>
          <a:custGeom>
            <a:avLst/>
            <a:gdLst/>
            <a:ahLst/>
            <a:cxnLst/>
            <a:rect r="r" b="b" t="t" l="l"/>
            <a:pathLst>
              <a:path h="857250" w="447675">
                <a:moveTo>
                  <a:pt x="0" y="0"/>
                </a:moveTo>
                <a:lnTo>
                  <a:pt x="447675" y="0"/>
                </a:lnTo>
                <a:lnTo>
                  <a:pt x="447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8625" y="6000750"/>
            <a:ext cx="5019675" cy="2362200"/>
          </a:xfrm>
          <a:custGeom>
            <a:avLst/>
            <a:gdLst/>
            <a:ahLst/>
            <a:cxnLst/>
            <a:rect r="r" b="b" t="t" l="l"/>
            <a:pathLst>
              <a:path h="2362200" w="5019675">
                <a:moveTo>
                  <a:pt x="0" y="0"/>
                </a:moveTo>
                <a:lnTo>
                  <a:pt x="5019675" y="0"/>
                </a:lnTo>
                <a:lnTo>
                  <a:pt x="50196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7700" y="6210300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828925" y="64293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96000" y="3000375"/>
            <a:ext cx="3486150" cy="6429375"/>
          </a:xfrm>
          <a:custGeom>
            <a:avLst/>
            <a:gdLst/>
            <a:ahLst/>
            <a:cxnLst/>
            <a:rect r="r" b="b" t="t" l="l"/>
            <a:pathLst>
              <a:path h="6429375" w="3486150">
                <a:moveTo>
                  <a:pt x="0" y="0"/>
                </a:moveTo>
                <a:lnTo>
                  <a:pt x="3486150" y="0"/>
                </a:lnTo>
                <a:lnTo>
                  <a:pt x="3486150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894576" y="3866959"/>
            <a:ext cx="19202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9"/>
              </a:lnSpc>
            </a:pPr>
            <a:r>
              <a:rPr lang="en-US" b="true" sz="2407" spc="-48">
                <a:solidFill>
                  <a:srgbClr val="F9A83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PHONE CORE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28816" y="4629912"/>
            <a:ext cx="265176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698" spc="-33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Multimodal Sensor Fusion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524625" y="4924425"/>
            <a:ext cx="1971675" cy="2362200"/>
          </a:xfrm>
          <a:custGeom>
            <a:avLst/>
            <a:gdLst/>
            <a:ahLst/>
            <a:cxnLst/>
            <a:rect r="r" b="b" t="t" l="l"/>
            <a:pathLst>
              <a:path h="2362200" w="1971675">
                <a:moveTo>
                  <a:pt x="0" y="0"/>
                </a:moveTo>
                <a:lnTo>
                  <a:pt x="1971675" y="0"/>
                </a:lnTo>
                <a:lnTo>
                  <a:pt x="19716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524625" y="7286625"/>
            <a:ext cx="2619375" cy="219075"/>
          </a:xfrm>
          <a:custGeom>
            <a:avLst/>
            <a:gdLst/>
            <a:ahLst/>
            <a:cxnLst/>
            <a:rect r="r" b="b" t="t" l="l"/>
            <a:pathLst>
              <a:path h="219075" w="26193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219700" y="4495800"/>
            <a:ext cx="666750" cy="3219450"/>
          </a:xfrm>
          <a:custGeom>
            <a:avLst/>
            <a:gdLst/>
            <a:ahLst/>
            <a:cxnLst/>
            <a:rect r="r" b="b" t="t" l="l"/>
            <a:pathLst>
              <a:path h="3219450" w="666750">
                <a:moveTo>
                  <a:pt x="0" y="0"/>
                </a:moveTo>
                <a:lnTo>
                  <a:pt x="666750" y="0"/>
                </a:lnTo>
                <a:lnTo>
                  <a:pt x="66675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657850" y="578167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010775" y="3000375"/>
            <a:ext cx="4143375" cy="1285875"/>
          </a:xfrm>
          <a:custGeom>
            <a:avLst/>
            <a:gdLst/>
            <a:ahLst/>
            <a:cxnLst/>
            <a:rect r="r" b="b" t="t" l="l"/>
            <a:pathLst>
              <a:path h="1285875" w="4143375">
                <a:moveTo>
                  <a:pt x="0" y="0"/>
                </a:moveTo>
                <a:lnTo>
                  <a:pt x="4143375" y="0"/>
                </a:lnTo>
                <a:lnTo>
                  <a:pt x="4143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448925" y="320992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972925" y="4067175"/>
            <a:ext cx="219075" cy="647700"/>
          </a:xfrm>
          <a:custGeom>
            <a:avLst/>
            <a:gdLst/>
            <a:ahLst/>
            <a:cxnLst/>
            <a:rect r="r" b="b" t="t" l="l"/>
            <a:pathLst>
              <a:path h="647700" w="219075">
                <a:moveTo>
                  <a:pt x="0" y="0"/>
                </a:moveTo>
                <a:lnTo>
                  <a:pt x="219075" y="0"/>
                </a:lnTo>
                <a:lnTo>
                  <a:pt x="2190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010775" y="4286250"/>
            <a:ext cx="4143375" cy="1714500"/>
          </a:xfrm>
          <a:custGeom>
            <a:avLst/>
            <a:gdLst/>
            <a:ahLst/>
            <a:cxnLst/>
            <a:rect r="r" b="b" t="t" l="l"/>
            <a:pathLst>
              <a:path h="1714500" w="4143375">
                <a:moveTo>
                  <a:pt x="0" y="0"/>
                </a:moveTo>
                <a:lnTo>
                  <a:pt x="4143375" y="0"/>
                </a:lnTo>
                <a:lnTo>
                  <a:pt x="41433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448925" y="47148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972925" y="5781675"/>
            <a:ext cx="219075" cy="438150"/>
          </a:xfrm>
          <a:custGeom>
            <a:avLst/>
            <a:gdLst/>
            <a:ahLst/>
            <a:cxnLst/>
            <a:rect r="r" b="b" t="t" l="l"/>
            <a:pathLst>
              <a:path h="438150" w="219075">
                <a:moveTo>
                  <a:pt x="0" y="0"/>
                </a:moveTo>
                <a:lnTo>
                  <a:pt x="219075" y="0"/>
                </a:lnTo>
                <a:lnTo>
                  <a:pt x="2190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010775" y="6000750"/>
            <a:ext cx="4143375" cy="1714500"/>
          </a:xfrm>
          <a:custGeom>
            <a:avLst/>
            <a:gdLst/>
            <a:ahLst/>
            <a:cxnLst/>
            <a:rect r="r" b="b" t="t" l="l"/>
            <a:pathLst>
              <a:path h="1714500" w="4143375">
                <a:moveTo>
                  <a:pt x="0" y="0"/>
                </a:moveTo>
                <a:lnTo>
                  <a:pt x="4143375" y="0"/>
                </a:lnTo>
                <a:lnTo>
                  <a:pt x="41433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448925" y="64293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972925" y="7496175"/>
            <a:ext cx="219075" cy="438150"/>
          </a:xfrm>
          <a:custGeom>
            <a:avLst/>
            <a:gdLst/>
            <a:ahLst/>
            <a:cxnLst/>
            <a:rect r="r" b="b" t="t" l="l"/>
            <a:pathLst>
              <a:path h="438150" w="219075">
                <a:moveTo>
                  <a:pt x="0" y="0"/>
                </a:moveTo>
                <a:lnTo>
                  <a:pt x="219075" y="0"/>
                </a:lnTo>
                <a:lnTo>
                  <a:pt x="2190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010775" y="7715250"/>
            <a:ext cx="4143375" cy="1714500"/>
          </a:xfrm>
          <a:custGeom>
            <a:avLst/>
            <a:gdLst/>
            <a:ahLst/>
            <a:cxnLst/>
            <a:rect r="r" b="b" t="t" l="l"/>
            <a:pathLst>
              <a:path h="1714500" w="4143375">
                <a:moveTo>
                  <a:pt x="0" y="0"/>
                </a:moveTo>
                <a:lnTo>
                  <a:pt x="4143375" y="0"/>
                </a:lnTo>
                <a:lnTo>
                  <a:pt x="41433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448925" y="81438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353550" y="5143500"/>
            <a:ext cx="885825" cy="219075"/>
          </a:xfrm>
          <a:custGeom>
            <a:avLst/>
            <a:gdLst/>
            <a:ahLst/>
            <a:cxnLst/>
            <a:rect r="r" b="b" t="t" l="l"/>
            <a:pathLst>
              <a:path h="219075" w="885825">
                <a:moveTo>
                  <a:pt x="0" y="0"/>
                </a:moveTo>
                <a:lnTo>
                  <a:pt x="885825" y="0"/>
                </a:lnTo>
                <a:lnTo>
                  <a:pt x="885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925550" y="3638550"/>
            <a:ext cx="666750" cy="4933950"/>
          </a:xfrm>
          <a:custGeom>
            <a:avLst/>
            <a:gdLst/>
            <a:ahLst/>
            <a:cxnLst/>
            <a:rect r="r" b="b" t="t" l="l"/>
            <a:pathLst>
              <a:path h="4933950" w="666750">
                <a:moveTo>
                  <a:pt x="0" y="0"/>
                </a:moveTo>
                <a:lnTo>
                  <a:pt x="666750" y="0"/>
                </a:lnTo>
                <a:lnTo>
                  <a:pt x="66675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363700" y="5572125"/>
            <a:ext cx="876300" cy="428625"/>
          </a:xfrm>
          <a:custGeom>
            <a:avLst/>
            <a:gdLst/>
            <a:ahLst/>
            <a:cxnLst/>
            <a:rect r="r" b="b" t="t" l="l"/>
            <a:pathLst>
              <a:path h="428625" w="876300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020925" y="4495800"/>
            <a:ext cx="2838450" cy="3648075"/>
          </a:xfrm>
          <a:custGeom>
            <a:avLst/>
            <a:gdLst/>
            <a:ahLst/>
            <a:cxnLst/>
            <a:rect r="r" b="b" t="t" l="l"/>
            <a:pathLst>
              <a:path h="3648075" w="2838450">
                <a:moveTo>
                  <a:pt x="0" y="0"/>
                </a:moveTo>
                <a:lnTo>
                  <a:pt x="2838450" y="0"/>
                </a:lnTo>
                <a:lnTo>
                  <a:pt x="28384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668625" y="5353050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5873984" y="5002530"/>
            <a:ext cx="117043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b="true" sz="2124" spc="-42">
                <a:solidFill>
                  <a:srgbClr val="F9A83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Office Kit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471648" y="6732270"/>
            <a:ext cx="201168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 spc="-38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Phone ↔ Laptop workflow bridge without replacing phone capabilities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944368" y="4447032"/>
            <a:ext cx="173736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2088" spc="-41" b="true">
                <a:solidFill>
                  <a:srgbClr val="F9A83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Voice Capture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944368" y="4836414"/>
            <a:ext cx="217627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spc="-3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clinician instructions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944368" y="6847904"/>
            <a:ext cx="168249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 spc="-41" b="true">
                <a:solidFill>
                  <a:srgbClr val="F9A83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Front Camera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944368" y="7227760"/>
            <a:ext cx="151790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 spc="-38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visual context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711696" y="7809357"/>
            <a:ext cx="219456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947" spc="-38" b="true">
                <a:solidFill>
                  <a:srgbClr val="F9A83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On-Device AI / NPU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711696" y="8193024"/>
            <a:ext cx="217627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-4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local reasoning and understanding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539728" y="3421571"/>
            <a:ext cx="193852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 spc="-38" b="true">
                <a:solidFill>
                  <a:srgbClr val="F9A83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Structured Rules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539728" y="3761041"/>
            <a:ext cx="204825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3"/>
              </a:lnSpc>
            </a:pPr>
            <a:r>
              <a:rPr lang="en-US" sz="1769" spc="-3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linked to medication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539728" y="4748594"/>
            <a:ext cx="129844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spc="-37" b="true">
                <a:solidFill>
                  <a:srgbClr val="F9A83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Verification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539728" y="5099494"/>
            <a:ext cx="129844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spc="-3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safety and consistency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539728" y="6354128"/>
            <a:ext cx="117043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 spc="-41" b="true">
                <a:solidFill>
                  <a:srgbClr val="F9A83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Guidance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539728" y="6724079"/>
            <a:ext cx="20482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805" spc="-3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clear, contextual medication support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539728" y="8021383"/>
            <a:ext cx="95097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-40" b="true">
                <a:solidFill>
                  <a:srgbClr val="F9A83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Logging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539728" y="8458772"/>
            <a:ext cx="20116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6"/>
              </a:lnSpc>
            </a:pPr>
            <a:r>
              <a:rPr lang="en-US" sz="1521" spc="-3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privacy-first, on-device records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19125" y="9182100"/>
            <a:ext cx="14287500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67E8F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STACK  |  CameraX + SensorManager + GNSS APIs → local structured state → OCR/vision + compact local model/NPU → Medication Decision Engine → Room/SQLite → TTS / haptics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430500" y="8334375"/>
            <a:ext cx="23812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b="true">
                <a:solidFill>
                  <a:srgbClr val="FFBD5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Office Kit: screen mirroring • file transfer • shared clipboard • remote control — while the phone keeps the core loop.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01550" y="857250"/>
            <a:ext cx="4362450" cy="8362950"/>
          </a:xfrm>
          <a:custGeom>
            <a:avLst/>
            <a:gdLst/>
            <a:ahLst/>
            <a:cxnLst/>
            <a:rect r="r" b="b" t="t" l="l"/>
            <a:pathLst>
              <a:path h="8362950" w="4362450">
                <a:moveTo>
                  <a:pt x="0" y="0"/>
                </a:moveTo>
                <a:lnTo>
                  <a:pt x="4362450" y="0"/>
                </a:lnTo>
                <a:lnTo>
                  <a:pt x="4362450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3232" y="809647"/>
            <a:ext cx="4096512" cy="434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b="true" sz="3223" spc="-64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IMPACT &amp; PRIORITIES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8368" y="1500016"/>
            <a:ext cx="8613648" cy="137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48"/>
              </a:lnSpc>
            </a:pPr>
            <a:r>
              <a:rPr lang="en-US" sz="10348" spc="-206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Building Safer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8368" y="2821064"/>
            <a:ext cx="6181344" cy="1378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83"/>
              </a:lnSpc>
            </a:pPr>
            <a:r>
              <a:rPr lang="en-US" sz="10383" spc="-207" b="true">
                <a:solidFill>
                  <a:srgbClr val="E4992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Every Day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3232" y="4513711"/>
            <a:ext cx="1207008" cy="34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b="true" sz="2549" spc="-50">
                <a:solidFill>
                  <a:srgbClr val="E4992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IMPACT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3232" y="4999010"/>
            <a:ext cx="3767328" cy="162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sz="2195" spc="-43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Enhanced medication safety</a:t>
            </a:r>
          </a:p>
          <a:p>
            <a:pPr algn="l">
              <a:lnSpc>
                <a:spcPts val="3292"/>
              </a:lnSpc>
            </a:pPr>
            <a:r>
              <a:rPr lang="en-US" sz="2195" spc="-43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Multimodal on-device sensing</a:t>
            </a:r>
          </a:p>
          <a:p>
            <a:pPr algn="l">
              <a:lnSpc>
                <a:spcPts val="3292"/>
              </a:lnSpc>
            </a:pPr>
            <a:r>
              <a:rPr lang="en-US" sz="2195" spc="-43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Community intelligence</a:t>
            </a:r>
          </a:p>
          <a:p>
            <a:pPr algn="l">
              <a:lnSpc>
                <a:spcPts val="3292"/>
              </a:lnSpc>
            </a:pPr>
            <a:r>
              <a:rPr lang="en-US" sz="2195" spc="-43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Accessibility for all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219700" y="4495800"/>
            <a:ext cx="876300" cy="2581275"/>
          </a:xfrm>
          <a:custGeom>
            <a:avLst/>
            <a:gdLst/>
            <a:ahLst/>
            <a:cxnLst/>
            <a:rect r="r" b="b" t="t" l="l"/>
            <a:pathLst>
              <a:path h="2581275" w="876300">
                <a:moveTo>
                  <a:pt x="0" y="0"/>
                </a:moveTo>
                <a:lnTo>
                  <a:pt x="876300" y="0"/>
                </a:lnTo>
                <a:lnTo>
                  <a:pt x="8763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803136" y="4513711"/>
            <a:ext cx="2706624" cy="34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b="true" sz="2549" spc="-50">
                <a:solidFill>
                  <a:srgbClr val="E4992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BUILD PRIORITIES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03136" y="4910410"/>
            <a:ext cx="2395728" cy="2786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124" spc="-4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Core sensor use</a:t>
            </a:r>
          </a:p>
          <a:p>
            <a:pPr algn="l">
              <a:lnSpc>
                <a:spcPts val="3186"/>
              </a:lnSpc>
            </a:pPr>
            <a:r>
              <a:rPr lang="en-US" sz="2124" spc="-4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 reasoning</a:t>
            </a:r>
          </a:p>
          <a:p>
            <a:pPr algn="l">
              <a:lnSpc>
                <a:spcPts val="3186"/>
              </a:lnSpc>
            </a:pPr>
            <a:r>
              <a:rPr lang="en-US" sz="2124" spc="-4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Stable capture</a:t>
            </a:r>
          </a:p>
          <a:p>
            <a:pPr algn="l">
              <a:lnSpc>
                <a:spcPts val="3186"/>
              </a:lnSpc>
            </a:pPr>
            <a:r>
              <a:rPr lang="en-US" sz="2124" spc="-4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Verification</a:t>
            </a:r>
          </a:p>
          <a:p>
            <a:pPr algn="l">
              <a:lnSpc>
                <a:spcPts val="3186"/>
              </a:lnSpc>
            </a:pPr>
            <a:r>
              <a:rPr lang="en-US" sz="2124" spc="-4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Schedule matching</a:t>
            </a:r>
          </a:p>
          <a:p>
            <a:pPr algn="l">
              <a:lnSpc>
                <a:spcPts val="3186"/>
              </a:lnSpc>
            </a:pPr>
            <a:r>
              <a:rPr lang="en-US" sz="2124" spc="-4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Voice guidance</a:t>
            </a:r>
          </a:p>
          <a:p>
            <a:pPr algn="l">
              <a:lnSpc>
                <a:spcPts val="3186"/>
              </a:lnSpc>
            </a:pPr>
            <a:r>
              <a:rPr lang="en-US" sz="2124" spc="-4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Logging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839700" y="3000375"/>
            <a:ext cx="3276600" cy="3429000"/>
          </a:xfrm>
          <a:custGeom>
            <a:avLst/>
            <a:gdLst/>
            <a:ahLst/>
            <a:cxnLst/>
            <a:rect r="r" b="b" t="t" l="l"/>
            <a:pathLst>
              <a:path h="3429000" w="3276600">
                <a:moveTo>
                  <a:pt x="0" y="0"/>
                </a:moveTo>
                <a:lnTo>
                  <a:pt x="3276600" y="0"/>
                </a:lnTo>
                <a:lnTo>
                  <a:pt x="32766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7700" y="7715250"/>
            <a:ext cx="11115675" cy="1504950"/>
          </a:xfrm>
          <a:custGeom>
            <a:avLst/>
            <a:gdLst/>
            <a:ahLst/>
            <a:cxnLst/>
            <a:rect r="r" b="b" t="t" l="l"/>
            <a:pathLst>
              <a:path h="1504950" w="11115675">
                <a:moveTo>
                  <a:pt x="0" y="0"/>
                </a:moveTo>
                <a:lnTo>
                  <a:pt x="11115675" y="0"/>
                </a:lnTo>
                <a:lnTo>
                  <a:pt x="11115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69264" y="8033804"/>
            <a:ext cx="5065776" cy="316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7"/>
              </a:lnSpc>
            </a:pPr>
            <a:r>
              <a:rPr lang="en-US" b="true" sz="2337" spc="-46">
                <a:solidFill>
                  <a:srgbClr val="E4992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ALIGNED TO IQOO HACKATHON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7008" y="8463344"/>
            <a:ext cx="106070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sz="1876" spc="-3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Quality &amp; Execution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390775" y="8353425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926080" y="8463344"/>
            <a:ext cx="1133856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sz="1876" spc="-3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Novelty &amp; Innovation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133850" y="8353425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590288" y="8444294"/>
            <a:ext cx="1682496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2053" spc="-4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Creative Phone Use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305550" y="8353425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729984" y="8453818"/>
            <a:ext cx="1060704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spc="-3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Technical Depth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048625" y="8353425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412480" y="8453818"/>
            <a:ext cx="117043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spc="-3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Office Kit Readiness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791700" y="8353425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131552" y="8453818"/>
            <a:ext cx="117043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spc="-3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Demo Day Impact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15500" y="4953000"/>
            <a:ext cx="7429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67E8F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30-HOUR BUILD ORDER  |  hardware validation → camera/OCR → verification → sensor fusion → schedule/voice/logging → red-team testing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15500" y="6667500"/>
            <a:ext cx="72390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FFBD5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SAFETY BOUNDARY  |  Assistive screening, not prescribing or authenticity certification.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15500" y="7800975"/>
            <a:ext cx="78105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FBD5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The phone is not running SenseGuard. The phone is SenseGuard.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DAHUXAXZ_Uk</dc:identifier>
  <dcterms:modified xsi:type="dcterms:W3CDTF">2011-08-01T06:04:30Z</dcterms:modified>
  <cp:revision>1</cp:revision>
  <dc:title>iQOO 10-Slide Presentation</dc:title>
</cp:coreProperties>
</file>